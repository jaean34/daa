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Sergio Trendy" charset="1" panose="00000000000000000000"/>
      <p:regular r:id="rId17"/>
    </p:embeddedFont>
    <p:embeddedFont>
      <p:font typeface="Alata" charset="1" panose="000005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jpeg" Type="http://schemas.openxmlformats.org/officeDocument/2006/relationships/image"/><Relationship Id="rId9" Target="../media/image10.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3.png" Type="http://schemas.openxmlformats.org/officeDocument/2006/relationships/image"/><Relationship Id="rId7" Target="https://www.tempo.co/arsip/jakarta-kota-termacet-ke-30-di-dunia-dishub-dki-banyak-proyek-pembangunan-97612?utm_source=chatgpt.com" TargetMode="External" Type="http://schemas.openxmlformats.org/officeDocument/2006/relationships/hyperlink"/></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6.png" Type="http://schemas.openxmlformats.org/officeDocument/2006/relationships/image"/><Relationship Id="rId7" Target="../media/image17.png" Type="http://schemas.openxmlformats.org/officeDocument/2006/relationships/image"/><Relationship Id="rId8" Target="https://www.semanticscholar.org/paper/Analisis-Penerapan-Algoritma-Dijkstra-dalam-Rute:-Amin-Hendrik/82af715c9ed105e8943694fd5fa5e0962743e35b" TargetMode="External" Type="http://schemas.openxmlformats.org/officeDocument/2006/relationships/hyperlink"/></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1FCFF"/>
        </a:solidFill>
      </p:bgPr>
    </p:bg>
    <p:spTree>
      <p:nvGrpSpPr>
        <p:cNvPr id="1" name=""/>
        <p:cNvGrpSpPr/>
        <p:nvPr/>
      </p:nvGrpSpPr>
      <p:grpSpPr>
        <a:xfrm>
          <a:off x="0" y="0"/>
          <a:ext cx="0" cy="0"/>
          <a:chOff x="0" y="0"/>
          <a:chExt cx="0" cy="0"/>
        </a:xfrm>
      </p:grpSpPr>
      <p:sp>
        <p:nvSpPr>
          <p:cNvPr name="Freeform 2" id="2"/>
          <p:cNvSpPr/>
          <p:nvPr/>
        </p:nvSpPr>
        <p:spPr>
          <a:xfrm flipH="false" flipV="false" rot="0">
            <a:off x="11660319" y="7205129"/>
            <a:ext cx="6627681" cy="3081871"/>
          </a:xfrm>
          <a:custGeom>
            <a:avLst/>
            <a:gdLst/>
            <a:ahLst/>
            <a:cxnLst/>
            <a:rect r="r" b="b" t="t" l="l"/>
            <a:pathLst>
              <a:path h="3081871" w="6627681">
                <a:moveTo>
                  <a:pt x="0" y="0"/>
                </a:moveTo>
                <a:lnTo>
                  <a:pt x="6627681" y="0"/>
                </a:lnTo>
                <a:lnTo>
                  <a:pt x="6627681" y="3081871"/>
                </a:lnTo>
                <a:lnTo>
                  <a:pt x="0" y="30818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0" y="0"/>
            <a:ext cx="6627681" cy="3081871"/>
          </a:xfrm>
          <a:custGeom>
            <a:avLst/>
            <a:gdLst/>
            <a:ahLst/>
            <a:cxnLst/>
            <a:rect r="r" b="b" t="t" l="l"/>
            <a:pathLst>
              <a:path h="3081871" w="6627681">
                <a:moveTo>
                  <a:pt x="6627681" y="3081871"/>
                </a:moveTo>
                <a:lnTo>
                  <a:pt x="0" y="3081871"/>
                </a:lnTo>
                <a:lnTo>
                  <a:pt x="0" y="0"/>
                </a:lnTo>
                <a:lnTo>
                  <a:pt x="6627681" y="0"/>
                </a:lnTo>
                <a:lnTo>
                  <a:pt x="6627681" y="308187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528361" y="1238754"/>
            <a:ext cx="15231278" cy="7809492"/>
          </a:xfrm>
          <a:custGeom>
            <a:avLst/>
            <a:gdLst/>
            <a:ahLst/>
            <a:cxnLst/>
            <a:rect r="r" b="b" t="t" l="l"/>
            <a:pathLst>
              <a:path h="7809492" w="15231278">
                <a:moveTo>
                  <a:pt x="15231278" y="0"/>
                </a:moveTo>
                <a:lnTo>
                  <a:pt x="0" y="0"/>
                </a:lnTo>
                <a:lnTo>
                  <a:pt x="0" y="7809492"/>
                </a:lnTo>
                <a:lnTo>
                  <a:pt x="15231278" y="7809492"/>
                </a:lnTo>
                <a:lnTo>
                  <a:pt x="1523127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5400000">
            <a:off x="3447579" y="6254878"/>
            <a:ext cx="630553" cy="6637397"/>
          </a:xfrm>
          <a:custGeom>
            <a:avLst/>
            <a:gdLst/>
            <a:ahLst/>
            <a:cxnLst/>
            <a:rect r="r" b="b" t="t" l="l"/>
            <a:pathLst>
              <a:path h="6637397" w="630553">
                <a:moveTo>
                  <a:pt x="0" y="0"/>
                </a:moveTo>
                <a:lnTo>
                  <a:pt x="630552" y="0"/>
                </a:lnTo>
                <a:lnTo>
                  <a:pt x="630552" y="6637397"/>
                </a:lnTo>
                <a:lnTo>
                  <a:pt x="0" y="66373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true" flipV="true" rot="5400000">
            <a:off x="14163849" y="-2605275"/>
            <a:ext cx="630553" cy="6637397"/>
          </a:xfrm>
          <a:custGeom>
            <a:avLst/>
            <a:gdLst/>
            <a:ahLst/>
            <a:cxnLst/>
            <a:rect r="r" b="b" t="t" l="l"/>
            <a:pathLst>
              <a:path h="6637397" w="630553">
                <a:moveTo>
                  <a:pt x="630553" y="6637397"/>
                </a:moveTo>
                <a:lnTo>
                  <a:pt x="0" y="6637397"/>
                </a:lnTo>
                <a:lnTo>
                  <a:pt x="0" y="0"/>
                </a:lnTo>
                <a:lnTo>
                  <a:pt x="630553" y="0"/>
                </a:lnTo>
                <a:lnTo>
                  <a:pt x="630553" y="6637397"/>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1028700" y="3415246"/>
            <a:ext cx="16230600" cy="2498280"/>
          </a:xfrm>
          <a:prstGeom prst="rect">
            <a:avLst/>
          </a:prstGeom>
        </p:spPr>
        <p:txBody>
          <a:bodyPr anchor="t" rtlCol="false" tIns="0" lIns="0" bIns="0" rIns="0">
            <a:spAutoFit/>
          </a:bodyPr>
          <a:lstStyle/>
          <a:p>
            <a:pPr algn="ctr">
              <a:lnSpc>
                <a:spcPts val="10185"/>
              </a:lnSpc>
            </a:pPr>
            <a:r>
              <a:rPr lang="en-US" sz="10185">
                <a:solidFill>
                  <a:srgbClr val="000000"/>
                </a:solidFill>
                <a:latin typeface="Sergio Trendy"/>
                <a:ea typeface="Sergio Trendy"/>
                <a:cs typeface="Sergio Trendy"/>
                <a:sym typeface="Sergio Trendy"/>
              </a:rPr>
              <a:t>DESAIN DAN ANALISIS ALGORITMA</a:t>
            </a:r>
          </a:p>
        </p:txBody>
      </p:sp>
      <p:sp>
        <p:nvSpPr>
          <p:cNvPr name="TextBox 8" id="8"/>
          <p:cNvSpPr txBox="true"/>
          <p:nvPr/>
        </p:nvSpPr>
        <p:spPr>
          <a:xfrm rot="0">
            <a:off x="5566540" y="6099697"/>
            <a:ext cx="7154921" cy="824010"/>
          </a:xfrm>
          <a:prstGeom prst="rect">
            <a:avLst/>
          </a:prstGeom>
        </p:spPr>
        <p:txBody>
          <a:bodyPr anchor="t" rtlCol="false" tIns="0" lIns="0" bIns="0" rIns="0">
            <a:spAutoFit/>
          </a:bodyPr>
          <a:lstStyle/>
          <a:p>
            <a:pPr algn="ctr">
              <a:lnSpc>
                <a:spcPts val="6700"/>
              </a:lnSpc>
            </a:pPr>
            <a:r>
              <a:rPr lang="en-US" sz="4785">
                <a:solidFill>
                  <a:srgbClr val="000000"/>
                </a:solidFill>
                <a:latin typeface="Alata"/>
                <a:ea typeface="Alata"/>
                <a:cs typeface="Alata"/>
                <a:sym typeface="Alata"/>
              </a:rPr>
              <a:t>Graph Algorithm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1FCFF"/>
        </a:solidFill>
      </p:bgPr>
    </p:bg>
    <p:spTree>
      <p:nvGrpSpPr>
        <p:cNvPr id="1" name=""/>
        <p:cNvGrpSpPr/>
        <p:nvPr/>
      </p:nvGrpSpPr>
      <p:grpSpPr>
        <a:xfrm>
          <a:off x="0" y="0"/>
          <a:ext cx="0" cy="0"/>
          <a:chOff x="0" y="0"/>
          <a:chExt cx="0" cy="0"/>
        </a:xfrm>
      </p:grpSpPr>
      <p:sp>
        <p:nvSpPr>
          <p:cNvPr name="Freeform 2" id="2"/>
          <p:cNvSpPr/>
          <p:nvPr/>
        </p:nvSpPr>
        <p:spPr>
          <a:xfrm flipH="false" flipV="false" rot="0">
            <a:off x="11660319" y="7205129"/>
            <a:ext cx="6627681" cy="3081871"/>
          </a:xfrm>
          <a:custGeom>
            <a:avLst/>
            <a:gdLst/>
            <a:ahLst/>
            <a:cxnLst/>
            <a:rect r="r" b="b" t="t" l="l"/>
            <a:pathLst>
              <a:path h="3081871" w="6627681">
                <a:moveTo>
                  <a:pt x="0" y="0"/>
                </a:moveTo>
                <a:lnTo>
                  <a:pt x="6627681" y="0"/>
                </a:lnTo>
                <a:lnTo>
                  <a:pt x="6627681" y="3081871"/>
                </a:lnTo>
                <a:lnTo>
                  <a:pt x="0" y="30818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0" y="0"/>
            <a:ext cx="6627681" cy="3081871"/>
          </a:xfrm>
          <a:custGeom>
            <a:avLst/>
            <a:gdLst/>
            <a:ahLst/>
            <a:cxnLst/>
            <a:rect r="r" b="b" t="t" l="l"/>
            <a:pathLst>
              <a:path h="3081871" w="6627681">
                <a:moveTo>
                  <a:pt x="6627681" y="3081871"/>
                </a:moveTo>
                <a:lnTo>
                  <a:pt x="0" y="3081871"/>
                </a:lnTo>
                <a:lnTo>
                  <a:pt x="0" y="0"/>
                </a:lnTo>
                <a:lnTo>
                  <a:pt x="6627681" y="0"/>
                </a:lnTo>
                <a:lnTo>
                  <a:pt x="6627681" y="308187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3447579" y="6254878"/>
            <a:ext cx="630553" cy="6637397"/>
          </a:xfrm>
          <a:custGeom>
            <a:avLst/>
            <a:gdLst/>
            <a:ahLst/>
            <a:cxnLst/>
            <a:rect r="r" b="b" t="t" l="l"/>
            <a:pathLst>
              <a:path h="6637397" w="630553">
                <a:moveTo>
                  <a:pt x="0" y="0"/>
                </a:moveTo>
                <a:lnTo>
                  <a:pt x="630552" y="0"/>
                </a:lnTo>
                <a:lnTo>
                  <a:pt x="630552" y="6637397"/>
                </a:lnTo>
                <a:lnTo>
                  <a:pt x="0" y="66373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5400000">
            <a:off x="14163849" y="-2605275"/>
            <a:ext cx="630553" cy="6637397"/>
          </a:xfrm>
          <a:custGeom>
            <a:avLst/>
            <a:gdLst/>
            <a:ahLst/>
            <a:cxnLst/>
            <a:rect r="r" b="b" t="t" l="l"/>
            <a:pathLst>
              <a:path h="6637397" w="630553">
                <a:moveTo>
                  <a:pt x="630553" y="6637397"/>
                </a:moveTo>
                <a:lnTo>
                  <a:pt x="0" y="6637397"/>
                </a:lnTo>
                <a:lnTo>
                  <a:pt x="0" y="0"/>
                </a:lnTo>
                <a:lnTo>
                  <a:pt x="630553" y="0"/>
                </a:lnTo>
                <a:lnTo>
                  <a:pt x="630553" y="66373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6623129" y="2878918"/>
            <a:ext cx="5041742" cy="4529165"/>
          </a:xfrm>
          <a:custGeom>
            <a:avLst/>
            <a:gdLst/>
            <a:ahLst/>
            <a:cxnLst/>
            <a:rect r="r" b="b" t="t" l="l"/>
            <a:pathLst>
              <a:path h="4529165" w="5041742">
                <a:moveTo>
                  <a:pt x="0" y="0"/>
                </a:moveTo>
                <a:lnTo>
                  <a:pt x="5041742" y="0"/>
                </a:lnTo>
                <a:lnTo>
                  <a:pt x="5041742" y="4529164"/>
                </a:lnTo>
                <a:lnTo>
                  <a:pt x="0" y="452916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2217558" y="2878918"/>
            <a:ext cx="5041742" cy="4529165"/>
          </a:xfrm>
          <a:custGeom>
            <a:avLst/>
            <a:gdLst/>
            <a:ahLst/>
            <a:cxnLst/>
            <a:rect r="r" b="b" t="t" l="l"/>
            <a:pathLst>
              <a:path h="4529165" w="5041742">
                <a:moveTo>
                  <a:pt x="0" y="0"/>
                </a:moveTo>
                <a:lnTo>
                  <a:pt x="5041742" y="0"/>
                </a:lnTo>
                <a:lnTo>
                  <a:pt x="5041742" y="4529164"/>
                </a:lnTo>
                <a:lnTo>
                  <a:pt x="0" y="452916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028938" y="2878918"/>
            <a:ext cx="5041742" cy="4529165"/>
          </a:xfrm>
          <a:custGeom>
            <a:avLst/>
            <a:gdLst/>
            <a:ahLst/>
            <a:cxnLst/>
            <a:rect r="r" b="b" t="t" l="l"/>
            <a:pathLst>
              <a:path h="4529165" w="5041742">
                <a:moveTo>
                  <a:pt x="0" y="0"/>
                </a:moveTo>
                <a:lnTo>
                  <a:pt x="5041741" y="0"/>
                </a:lnTo>
                <a:lnTo>
                  <a:pt x="5041741" y="4529164"/>
                </a:lnTo>
                <a:lnTo>
                  <a:pt x="0" y="452916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 id="9"/>
          <p:cNvGrpSpPr/>
          <p:nvPr/>
        </p:nvGrpSpPr>
        <p:grpSpPr>
          <a:xfrm rot="0">
            <a:off x="7038127" y="3313902"/>
            <a:ext cx="4211746" cy="3659195"/>
            <a:chOff x="0" y="0"/>
            <a:chExt cx="652510" cy="566905"/>
          </a:xfrm>
        </p:grpSpPr>
        <p:sp>
          <p:nvSpPr>
            <p:cNvPr name="Freeform 10" id="10"/>
            <p:cNvSpPr/>
            <p:nvPr/>
          </p:nvSpPr>
          <p:spPr>
            <a:xfrm flipH="false" flipV="false" rot="0">
              <a:off x="0" y="0"/>
              <a:ext cx="652510" cy="566905"/>
            </a:xfrm>
            <a:custGeom>
              <a:avLst/>
              <a:gdLst/>
              <a:ahLst/>
              <a:cxnLst/>
              <a:rect r="r" b="b" t="t" l="l"/>
              <a:pathLst>
                <a:path h="566905" w="652510">
                  <a:moveTo>
                    <a:pt x="42278" y="0"/>
                  </a:moveTo>
                  <a:lnTo>
                    <a:pt x="610232" y="0"/>
                  </a:lnTo>
                  <a:cubicBezTo>
                    <a:pt x="621445" y="0"/>
                    <a:pt x="632198" y="4454"/>
                    <a:pt x="640127" y="12383"/>
                  </a:cubicBezTo>
                  <a:cubicBezTo>
                    <a:pt x="648055" y="20312"/>
                    <a:pt x="652510" y="31065"/>
                    <a:pt x="652510" y="42278"/>
                  </a:cubicBezTo>
                  <a:lnTo>
                    <a:pt x="652510" y="524627"/>
                  </a:lnTo>
                  <a:cubicBezTo>
                    <a:pt x="652510" y="547977"/>
                    <a:pt x="633581" y="566905"/>
                    <a:pt x="610232" y="566905"/>
                  </a:cubicBezTo>
                  <a:lnTo>
                    <a:pt x="42278" y="566905"/>
                  </a:lnTo>
                  <a:cubicBezTo>
                    <a:pt x="18929" y="566905"/>
                    <a:pt x="0" y="547977"/>
                    <a:pt x="0" y="524627"/>
                  </a:cubicBezTo>
                  <a:lnTo>
                    <a:pt x="0" y="42278"/>
                  </a:lnTo>
                  <a:cubicBezTo>
                    <a:pt x="0" y="18929"/>
                    <a:pt x="18929" y="0"/>
                    <a:pt x="42278" y="0"/>
                  </a:cubicBezTo>
                  <a:close/>
                </a:path>
              </a:pathLst>
            </a:custGeom>
            <a:blipFill>
              <a:blip r:embed="rId8"/>
              <a:stretch>
                <a:fillRect l="-7920" t="0" r="-7920" b="0"/>
              </a:stretch>
            </a:blipFill>
            <a:ln w="38100" cap="rnd">
              <a:solidFill>
                <a:srgbClr val="000000"/>
              </a:solidFill>
              <a:prstDash val="solid"/>
              <a:round/>
            </a:ln>
          </p:spPr>
        </p:sp>
      </p:grpSp>
      <p:grpSp>
        <p:nvGrpSpPr>
          <p:cNvPr name="Group 11" id="11"/>
          <p:cNvGrpSpPr/>
          <p:nvPr/>
        </p:nvGrpSpPr>
        <p:grpSpPr>
          <a:xfrm rot="0">
            <a:off x="12636421" y="3313902"/>
            <a:ext cx="4211746" cy="3659195"/>
            <a:chOff x="0" y="0"/>
            <a:chExt cx="652510" cy="566905"/>
          </a:xfrm>
        </p:grpSpPr>
        <p:sp>
          <p:nvSpPr>
            <p:cNvPr name="Freeform 12" id="12"/>
            <p:cNvSpPr/>
            <p:nvPr/>
          </p:nvSpPr>
          <p:spPr>
            <a:xfrm flipH="false" flipV="false" rot="0">
              <a:off x="0" y="0"/>
              <a:ext cx="652510" cy="566905"/>
            </a:xfrm>
            <a:custGeom>
              <a:avLst/>
              <a:gdLst/>
              <a:ahLst/>
              <a:cxnLst/>
              <a:rect r="r" b="b" t="t" l="l"/>
              <a:pathLst>
                <a:path h="566905" w="652510">
                  <a:moveTo>
                    <a:pt x="42278" y="0"/>
                  </a:moveTo>
                  <a:lnTo>
                    <a:pt x="610232" y="0"/>
                  </a:lnTo>
                  <a:cubicBezTo>
                    <a:pt x="621445" y="0"/>
                    <a:pt x="632198" y="4454"/>
                    <a:pt x="640127" y="12383"/>
                  </a:cubicBezTo>
                  <a:cubicBezTo>
                    <a:pt x="648055" y="20312"/>
                    <a:pt x="652510" y="31065"/>
                    <a:pt x="652510" y="42278"/>
                  </a:cubicBezTo>
                  <a:lnTo>
                    <a:pt x="652510" y="524627"/>
                  </a:lnTo>
                  <a:cubicBezTo>
                    <a:pt x="652510" y="547977"/>
                    <a:pt x="633581" y="566905"/>
                    <a:pt x="610232" y="566905"/>
                  </a:cubicBezTo>
                  <a:lnTo>
                    <a:pt x="42278" y="566905"/>
                  </a:lnTo>
                  <a:cubicBezTo>
                    <a:pt x="18929" y="566905"/>
                    <a:pt x="0" y="547977"/>
                    <a:pt x="0" y="524627"/>
                  </a:cubicBezTo>
                  <a:lnTo>
                    <a:pt x="0" y="42278"/>
                  </a:lnTo>
                  <a:cubicBezTo>
                    <a:pt x="0" y="18929"/>
                    <a:pt x="18929" y="0"/>
                    <a:pt x="42278" y="0"/>
                  </a:cubicBezTo>
                  <a:close/>
                </a:path>
              </a:pathLst>
            </a:custGeom>
            <a:blipFill>
              <a:blip r:embed="rId9"/>
              <a:stretch>
                <a:fillRect l="-7824" t="0" r="-7824" b="0"/>
              </a:stretch>
            </a:blipFill>
            <a:ln w="38100" cap="rnd">
              <a:solidFill>
                <a:srgbClr val="000000"/>
              </a:solidFill>
              <a:prstDash val="solid"/>
              <a:round/>
            </a:ln>
          </p:spPr>
        </p:sp>
      </p:grpSp>
      <p:grpSp>
        <p:nvGrpSpPr>
          <p:cNvPr name="Group 13" id="13"/>
          <p:cNvGrpSpPr/>
          <p:nvPr/>
        </p:nvGrpSpPr>
        <p:grpSpPr>
          <a:xfrm rot="0">
            <a:off x="1439833" y="3313902"/>
            <a:ext cx="4211746" cy="3659195"/>
            <a:chOff x="0" y="0"/>
            <a:chExt cx="652510" cy="566905"/>
          </a:xfrm>
        </p:grpSpPr>
        <p:sp>
          <p:nvSpPr>
            <p:cNvPr name="Freeform 14" id="14"/>
            <p:cNvSpPr/>
            <p:nvPr/>
          </p:nvSpPr>
          <p:spPr>
            <a:xfrm flipH="false" flipV="false" rot="0">
              <a:off x="0" y="0"/>
              <a:ext cx="652510" cy="566905"/>
            </a:xfrm>
            <a:custGeom>
              <a:avLst/>
              <a:gdLst/>
              <a:ahLst/>
              <a:cxnLst/>
              <a:rect r="r" b="b" t="t" l="l"/>
              <a:pathLst>
                <a:path h="566905" w="652510">
                  <a:moveTo>
                    <a:pt x="42278" y="0"/>
                  </a:moveTo>
                  <a:lnTo>
                    <a:pt x="610232" y="0"/>
                  </a:lnTo>
                  <a:cubicBezTo>
                    <a:pt x="621445" y="0"/>
                    <a:pt x="632198" y="4454"/>
                    <a:pt x="640127" y="12383"/>
                  </a:cubicBezTo>
                  <a:cubicBezTo>
                    <a:pt x="648055" y="20312"/>
                    <a:pt x="652510" y="31065"/>
                    <a:pt x="652510" y="42278"/>
                  </a:cubicBezTo>
                  <a:lnTo>
                    <a:pt x="652510" y="524627"/>
                  </a:lnTo>
                  <a:cubicBezTo>
                    <a:pt x="652510" y="547977"/>
                    <a:pt x="633581" y="566905"/>
                    <a:pt x="610232" y="566905"/>
                  </a:cubicBezTo>
                  <a:lnTo>
                    <a:pt x="42278" y="566905"/>
                  </a:lnTo>
                  <a:cubicBezTo>
                    <a:pt x="18929" y="566905"/>
                    <a:pt x="0" y="547977"/>
                    <a:pt x="0" y="524627"/>
                  </a:cubicBezTo>
                  <a:lnTo>
                    <a:pt x="0" y="42278"/>
                  </a:lnTo>
                  <a:cubicBezTo>
                    <a:pt x="0" y="18929"/>
                    <a:pt x="18929" y="0"/>
                    <a:pt x="42278" y="0"/>
                  </a:cubicBezTo>
                  <a:close/>
                </a:path>
              </a:pathLst>
            </a:custGeom>
            <a:blipFill>
              <a:blip r:embed="rId10"/>
              <a:stretch>
                <a:fillRect l="-15632" t="0" r="-15632" b="0"/>
              </a:stretch>
            </a:blipFill>
            <a:ln w="38100" cap="rnd">
              <a:solidFill>
                <a:srgbClr val="000000"/>
              </a:solidFill>
              <a:prstDash val="solid"/>
              <a:round/>
            </a:ln>
          </p:spPr>
        </p:sp>
      </p:grpSp>
      <p:sp>
        <p:nvSpPr>
          <p:cNvPr name="TextBox 15" id="15"/>
          <p:cNvSpPr txBox="true"/>
          <p:nvPr/>
        </p:nvSpPr>
        <p:spPr>
          <a:xfrm rot="0">
            <a:off x="1724014" y="7570007"/>
            <a:ext cx="3643385" cy="1193351"/>
          </a:xfrm>
          <a:prstGeom prst="rect">
            <a:avLst/>
          </a:prstGeom>
        </p:spPr>
        <p:txBody>
          <a:bodyPr anchor="t" rtlCol="false" tIns="0" lIns="0" bIns="0" rIns="0">
            <a:spAutoFit/>
          </a:bodyPr>
          <a:lstStyle/>
          <a:p>
            <a:pPr algn="ctr">
              <a:lnSpc>
                <a:spcPts val="4780"/>
              </a:lnSpc>
            </a:pPr>
            <a:r>
              <a:rPr lang="en-US" sz="3414">
                <a:solidFill>
                  <a:srgbClr val="000000"/>
                </a:solidFill>
                <a:latin typeface="Alata"/>
                <a:ea typeface="Alata"/>
                <a:cs typeface="Alata"/>
                <a:sym typeface="Alata"/>
              </a:rPr>
              <a:t>Nadia</a:t>
            </a:r>
          </a:p>
          <a:p>
            <a:pPr algn="ctr">
              <a:lnSpc>
                <a:spcPts val="4780"/>
              </a:lnSpc>
            </a:pPr>
            <a:r>
              <a:rPr lang="en-US" sz="3414">
                <a:solidFill>
                  <a:srgbClr val="000000"/>
                </a:solidFill>
                <a:latin typeface="Alata"/>
                <a:ea typeface="Alata"/>
                <a:cs typeface="Alata"/>
                <a:sym typeface="Alata"/>
              </a:rPr>
              <a:t>2024071004</a:t>
            </a:r>
          </a:p>
        </p:txBody>
      </p:sp>
      <p:sp>
        <p:nvSpPr>
          <p:cNvPr name="TextBox 16" id="16"/>
          <p:cNvSpPr txBox="true"/>
          <p:nvPr/>
        </p:nvSpPr>
        <p:spPr>
          <a:xfrm rot="0">
            <a:off x="4885586" y="1507894"/>
            <a:ext cx="8516828" cy="867975"/>
          </a:xfrm>
          <a:prstGeom prst="rect">
            <a:avLst/>
          </a:prstGeom>
        </p:spPr>
        <p:txBody>
          <a:bodyPr anchor="t" rtlCol="false" tIns="0" lIns="0" bIns="0" rIns="0">
            <a:spAutoFit/>
          </a:bodyPr>
          <a:lstStyle/>
          <a:p>
            <a:pPr algn="ctr">
              <a:lnSpc>
                <a:spcPts val="7228"/>
              </a:lnSpc>
            </a:pPr>
            <a:r>
              <a:rPr lang="en-US" sz="7228">
                <a:solidFill>
                  <a:srgbClr val="000000"/>
                </a:solidFill>
                <a:latin typeface="Sergio Trendy"/>
                <a:ea typeface="Sergio Trendy"/>
                <a:cs typeface="Sergio Trendy"/>
                <a:sym typeface="Sergio Trendy"/>
              </a:rPr>
              <a:t>ANGGOTA</a:t>
            </a:r>
          </a:p>
        </p:txBody>
      </p:sp>
      <p:sp>
        <p:nvSpPr>
          <p:cNvPr name="TextBox 17" id="17"/>
          <p:cNvSpPr txBox="true"/>
          <p:nvPr/>
        </p:nvSpPr>
        <p:spPr>
          <a:xfrm rot="0">
            <a:off x="6355482" y="7589057"/>
            <a:ext cx="5577037" cy="1193351"/>
          </a:xfrm>
          <a:prstGeom prst="rect">
            <a:avLst/>
          </a:prstGeom>
        </p:spPr>
        <p:txBody>
          <a:bodyPr anchor="t" rtlCol="false" tIns="0" lIns="0" bIns="0" rIns="0">
            <a:spAutoFit/>
          </a:bodyPr>
          <a:lstStyle/>
          <a:p>
            <a:pPr algn="ctr">
              <a:lnSpc>
                <a:spcPts val="4780"/>
              </a:lnSpc>
            </a:pPr>
            <a:r>
              <a:rPr lang="en-US" sz="3414">
                <a:solidFill>
                  <a:srgbClr val="000000"/>
                </a:solidFill>
                <a:latin typeface="Alata"/>
                <a:ea typeface="Alata"/>
                <a:cs typeface="Alata"/>
                <a:sym typeface="Alata"/>
              </a:rPr>
              <a:t>Karine Olivia Permana</a:t>
            </a:r>
          </a:p>
          <a:p>
            <a:pPr algn="ctr">
              <a:lnSpc>
                <a:spcPts val="4780"/>
              </a:lnSpc>
            </a:pPr>
            <a:r>
              <a:rPr lang="en-US" sz="3414">
                <a:solidFill>
                  <a:srgbClr val="000000"/>
                </a:solidFill>
                <a:latin typeface="Alata"/>
                <a:ea typeface="Alata"/>
                <a:cs typeface="Alata"/>
                <a:sym typeface="Alata"/>
              </a:rPr>
              <a:t>2024071025</a:t>
            </a:r>
          </a:p>
        </p:txBody>
      </p:sp>
      <p:sp>
        <p:nvSpPr>
          <p:cNvPr name="TextBox 18" id="18"/>
          <p:cNvSpPr txBox="true"/>
          <p:nvPr/>
        </p:nvSpPr>
        <p:spPr>
          <a:xfrm rot="0">
            <a:off x="12088481" y="7589057"/>
            <a:ext cx="5771358" cy="1193351"/>
          </a:xfrm>
          <a:prstGeom prst="rect">
            <a:avLst/>
          </a:prstGeom>
        </p:spPr>
        <p:txBody>
          <a:bodyPr anchor="t" rtlCol="false" tIns="0" lIns="0" bIns="0" rIns="0">
            <a:spAutoFit/>
          </a:bodyPr>
          <a:lstStyle/>
          <a:p>
            <a:pPr algn="ctr">
              <a:lnSpc>
                <a:spcPts val="4780"/>
              </a:lnSpc>
            </a:pPr>
            <a:r>
              <a:rPr lang="en-US" sz="3414">
                <a:solidFill>
                  <a:srgbClr val="000000"/>
                </a:solidFill>
                <a:latin typeface="Alata"/>
                <a:ea typeface="Alata"/>
                <a:cs typeface="Alata"/>
                <a:sym typeface="Alata"/>
              </a:rPr>
              <a:t>Muhammad Azka Tsurayya</a:t>
            </a:r>
          </a:p>
          <a:p>
            <a:pPr algn="ctr">
              <a:lnSpc>
                <a:spcPts val="4780"/>
              </a:lnSpc>
            </a:pPr>
            <a:r>
              <a:rPr lang="en-US" sz="3414">
                <a:solidFill>
                  <a:srgbClr val="000000"/>
                </a:solidFill>
                <a:latin typeface="Alata"/>
                <a:ea typeface="Alata"/>
                <a:cs typeface="Alata"/>
                <a:sym typeface="Alata"/>
              </a:rPr>
              <a:t>2024071026</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1FCFF"/>
        </a:solidFill>
      </p:bgPr>
    </p:bg>
    <p:spTree>
      <p:nvGrpSpPr>
        <p:cNvPr id="1" name=""/>
        <p:cNvGrpSpPr/>
        <p:nvPr/>
      </p:nvGrpSpPr>
      <p:grpSpPr>
        <a:xfrm>
          <a:off x="0" y="0"/>
          <a:ext cx="0" cy="0"/>
          <a:chOff x="0" y="0"/>
          <a:chExt cx="0" cy="0"/>
        </a:xfrm>
      </p:grpSpPr>
      <p:sp>
        <p:nvSpPr>
          <p:cNvPr name="Freeform 2" id="2"/>
          <p:cNvSpPr/>
          <p:nvPr/>
        </p:nvSpPr>
        <p:spPr>
          <a:xfrm flipH="false" flipV="false" rot="0">
            <a:off x="11660319" y="7205129"/>
            <a:ext cx="6627681" cy="3081871"/>
          </a:xfrm>
          <a:custGeom>
            <a:avLst/>
            <a:gdLst/>
            <a:ahLst/>
            <a:cxnLst/>
            <a:rect r="r" b="b" t="t" l="l"/>
            <a:pathLst>
              <a:path h="3081871" w="6627681">
                <a:moveTo>
                  <a:pt x="0" y="0"/>
                </a:moveTo>
                <a:lnTo>
                  <a:pt x="6627681" y="0"/>
                </a:lnTo>
                <a:lnTo>
                  <a:pt x="6627681" y="3081871"/>
                </a:lnTo>
                <a:lnTo>
                  <a:pt x="0" y="30818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0" y="0"/>
            <a:ext cx="6627681" cy="3081871"/>
          </a:xfrm>
          <a:custGeom>
            <a:avLst/>
            <a:gdLst/>
            <a:ahLst/>
            <a:cxnLst/>
            <a:rect r="r" b="b" t="t" l="l"/>
            <a:pathLst>
              <a:path h="3081871" w="6627681">
                <a:moveTo>
                  <a:pt x="6627681" y="3081871"/>
                </a:moveTo>
                <a:lnTo>
                  <a:pt x="0" y="3081871"/>
                </a:lnTo>
                <a:lnTo>
                  <a:pt x="0" y="0"/>
                </a:lnTo>
                <a:lnTo>
                  <a:pt x="6627681" y="0"/>
                </a:lnTo>
                <a:lnTo>
                  <a:pt x="6627681" y="308187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3447579" y="6254878"/>
            <a:ext cx="630553" cy="6637397"/>
          </a:xfrm>
          <a:custGeom>
            <a:avLst/>
            <a:gdLst/>
            <a:ahLst/>
            <a:cxnLst/>
            <a:rect r="r" b="b" t="t" l="l"/>
            <a:pathLst>
              <a:path h="6637397" w="630553">
                <a:moveTo>
                  <a:pt x="0" y="0"/>
                </a:moveTo>
                <a:lnTo>
                  <a:pt x="630552" y="0"/>
                </a:lnTo>
                <a:lnTo>
                  <a:pt x="630552" y="6637397"/>
                </a:lnTo>
                <a:lnTo>
                  <a:pt x="0" y="66373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5400000">
            <a:off x="14163849" y="-2605275"/>
            <a:ext cx="630553" cy="6637397"/>
          </a:xfrm>
          <a:custGeom>
            <a:avLst/>
            <a:gdLst/>
            <a:ahLst/>
            <a:cxnLst/>
            <a:rect r="r" b="b" t="t" l="l"/>
            <a:pathLst>
              <a:path h="6637397" w="630553">
                <a:moveTo>
                  <a:pt x="630553" y="6637397"/>
                </a:moveTo>
                <a:lnTo>
                  <a:pt x="0" y="6637397"/>
                </a:lnTo>
                <a:lnTo>
                  <a:pt x="0" y="0"/>
                </a:lnTo>
                <a:lnTo>
                  <a:pt x="630553" y="0"/>
                </a:lnTo>
                <a:lnTo>
                  <a:pt x="630553" y="66373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931970" y="626747"/>
            <a:ext cx="10728350" cy="867975"/>
          </a:xfrm>
          <a:prstGeom prst="rect">
            <a:avLst/>
          </a:prstGeom>
        </p:spPr>
        <p:txBody>
          <a:bodyPr anchor="t" rtlCol="false" tIns="0" lIns="0" bIns="0" rIns="0">
            <a:spAutoFit/>
          </a:bodyPr>
          <a:lstStyle/>
          <a:p>
            <a:pPr algn="ctr">
              <a:lnSpc>
                <a:spcPts val="7228"/>
              </a:lnSpc>
            </a:pPr>
            <a:r>
              <a:rPr lang="en-US" sz="7228">
                <a:solidFill>
                  <a:srgbClr val="000000"/>
                </a:solidFill>
                <a:latin typeface="Sergio Trendy"/>
                <a:ea typeface="Sergio Trendy"/>
                <a:cs typeface="Sergio Trendy"/>
                <a:sym typeface="Sergio Trendy"/>
              </a:rPr>
              <a:t>PERMASALAHAN</a:t>
            </a:r>
          </a:p>
        </p:txBody>
      </p:sp>
      <p:grpSp>
        <p:nvGrpSpPr>
          <p:cNvPr name="Group 7" id="7"/>
          <p:cNvGrpSpPr/>
          <p:nvPr/>
        </p:nvGrpSpPr>
        <p:grpSpPr>
          <a:xfrm rot="0">
            <a:off x="1541549" y="1894562"/>
            <a:ext cx="15204901" cy="6497876"/>
            <a:chOff x="0" y="0"/>
            <a:chExt cx="4004583" cy="1711375"/>
          </a:xfrm>
        </p:grpSpPr>
        <p:sp>
          <p:nvSpPr>
            <p:cNvPr name="Freeform 8" id="8"/>
            <p:cNvSpPr/>
            <p:nvPr/>
          </p:nvSpPr>
          <p:spPr>
            <a:xfrm flipH="false" flipV="false" rot="0">
              <a:off x="0" y="0"/>
              <a:ext cx="4004583" cy="1711375"/>
            </a:xfrm>
            <a:custGeom>
              <a:avLst/>
              <a:gdLst/>
              <a:ahLst/>
              <a:cxnLst/>
              <a:rect r="r" b="b" t="t" l="l"/>
              <a:pathLst>
                <a:path h="1711375" w="4004583">
                  <a:moveTo>
                    <a:pt x="25968" y="0"/>
                  </a:moveTo>
                  <a:lnTo>
                    <a:pt x="3978615" y="0"/>
                  </a:lnTo>
                  <a:cubicBezTo>
                    <a:pt x="3985502" y="0"/>
                    <a:pt x="3992107" y="2736"/>
                    <a:pt x="3996977" y="7606"/>
                  </a:cubicBezTo>
                  <a:cubicBezTo>
                    <a:pt x="4001847" y="12476"/>
                    <a:pt x="4004583" y="19081"/>
                    <a:pt x="4004583" y="25968"/>
                  </a:cubicBezTo>
                  <a:lnTo>
                    <a:pt x="4004583" y="1685407"/>
                  </a:lnTo>
                  <a:cubicBezTo>
                    <a:pt x="4004583" y="1692294"/>
                    <a:pt x="4001847" y="1698899"/>
                    <a:pt x="3996977" y="1703769"/>
                  </a:cubicBezTo>
                  <a:cubicBezTo>
                    <a:pt x="3992107" y="1708639"/>
                    <a:pt x="3985502" y="1711375"/>
                    <a:pt x="3978615" y="1711375"/>
                  </a:cubicBezTo>
                  <a:lnTo>
                    <a:pt x="25968" y="1711375"/>
                  </a:lnTo>
                  <a:cubicBezTo>
                    <a:pt x="19081" y="1711375"/>
                    <a:pt x="12476" y="1708639"/>
                    <a:pt x="7606" y="1703769"/>
                  </a:cubicBezTo>
                  <a:cubicBezTo>
                    <a:pt x="2736" y="1698899"/>
                    <a:pt x="0" y="1692294"/>
                    <a:pt x="0" y="1685407"/>
                  </a:cubicBezTo>
                  <a:lnTo>
                    <a:pt x="0" y="25968"/>
                  </a:lnTo>
                  <a:cubicBezTo>
                    <a:pt x="0" y="19081"/>
                    <a:pt x="2736" y="12476"/>
                    <a:pt x="7606" y="7606"/>
                  </a:cubicBezTo>
                  <a:cubicBezTo>
                    <a:pt x="12476" y="2736"/>
                    <a:pt x="19081" y="0"/>
                    <a:pt x="25968" y="0"/>
                  </a:cubicBezTo>
                  <a:close/>
                </a:path>
              </a:pathLst>
            </a:custGeom>
            <a:solidFill>
              <a:srgbClr val="FFFFFF"/>
            </a:solidFill>
            <a:ln w="38100" cap="rnd">
              <a:solidFill>
                <a:srgbClr val="1C98ED"/>
              </a:solidFill>
              <a:prstDash val="lgDash"/>
              <a:round/>
            </a:ln>
          </p:spPr>
        </p:sp>
        <p:sp>
          <p:nvSpPr>
            <p:cNvPr name="TextBox 9" id="9"/>
            <p:cNvSpPr txBox="true"/>
            <p:nvPr/>
          </p:nvSpPr>
          <p:spPr>
            <a:xfrm>
              <a:off x="0" y="-38100"/>
              <a:ext cx="4004583" cy="1749475"/>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1909669" y="2326958"/>
            <a:ext cx="14468661" cy="5641340"/>
          </a:xfrm>
          <a:prstGeom prst="rect">
            <a:avLst/>
          </a:prstGeom>
        </p:spPr>
        <p:txBody>
          <a:bodyPr anchor="t" rtlCol="false" tIns="0" lIns="0" bIns="0" rIns="0">
            <a:spAutoFit/>
          </a:bodyPr>
          <a:lstStyle/>
          <a:p>
            <a:pPr algn="l">
              <a:lnSpc>
                <a:spcPts val="4060"/>
              </a:lnSpc>
            </a:pPr>
            <a:r>
              <a:rPr lang="en-US" sz="2900">
                <a:solidFill>
                  <a:srgbClr val="000000"/>
                </a:solidFill>
                <a:latin typeface="Alata"/>
                <a:ea typeface="Alata"/>
                <a:cs typeface="Alata"/>
                <a:sym typeface="Alata"/>
              </a:rPr>
              <a:t>Banyak mahasiswa/i UPJ yang tinggal di daerah Bintaro, Ciputat, BSD dan sekitarnya. Para mahasiswa/i datang ke kampus dengan :</a:t>
            </a:r>
          </a:p>
          <a:p>
            <a:pPr algn="l">
              <a:lnSpc>
                <a:spcPts val="4060"/>
              </a:lnSpc>
            </a:pPr>
            <a:r>
              <a:rPr lang="en-US" sz="2900">
                <a:solidFill>
                  <a:srgbClr val="000000"/>
                </a:solidFill>
                <a:latin typeface="Alata"/>
                <a:ea typeface="Alata"/>
                <a:cs typeface="Alata"/>
                <a:sym typeface="Alata"/>
              </a:rPr>
              <a:t>- Jalan kaki</a:t>
            </a:r>
          </a:p>
          <a:p>
            <a:pPr algn="l">
              <a:lnSpc>
                <a:spcPts val="4060"/>
              </a:lnSpc>
            </a:pPr>
            <a:r>
              <a:rPr lang="en-US" sz="2900">
                <a:solidFill>
                  <a:srgbClr val="000000"/>
                </a:solidFill>
                <a:latin typeface="Alata"/>
                <a:ea typeface="Alata"/>
                <a:cs typeface="Alata"/>
                <a:sym typeface="Alata"/>
              </a:rPr>
              <a:t>- Motor</a:t>
            </a:r>
          </a:p>
          <a:p>
            <a:pPr algn="l">
              <a:lnSpc>
                <a:spcPts val="4060"/>
              </a:lnSpc>
            </a:pPr>
            <a:r>
              <a:rPr lang="en-US" sz="2900">
                <a:solidFill>
                  <a:srgbClr val="000000"/>
                </a:solidFill>
                <a:latin typeface="Alata"/>
                <a:ea typeface="Alata"/>
                <a:cs typeface="Alata"/>
                <a:sym typeface="Alata"/>
              </a:rPr>
              <a:t>- Mobil</a:t>
            </a:r>
          </a:p>
          <a:p>
            <a:pPr algn="l">
              <a:lnSpc>
                <a:spcPts val="4060"/>
              </a:lnSpc>
            </a:pPr>
            <a:r>
              <a:rPr lang="en-US" sz="2900">
                <a:solidFill>
                  <a:srgbClr val="000000"/>
                </a:solidFill>
                <a:latin typeface="Alata"/>
                <a:ea typeface="Alata"/>
                <a:cs typeface="Alata"/>
                <a:sym typeface="Alata"/>
              </a:rPr>
              <a:t>- KRL</a:t>
            </a:r>
          </a:p>
          <a:p>
            <a:pPr algn="l">
              <a:lnSpc>
                <a:spcPts val="4060"/>
              </a:lnSpc>
            </a:pPr>
            <a:r>
              <a:rPr lang="en-US" sz="2900">
                <a:solidFill>
                  <a:srgbClr val="000000"/>
                </a:solidFill>
                <a:latin typeface="Alata"/>
                <a:ea typeface="Alata"/>
                <a:cs typeface="Alata"/>
                <a:sym typeface="Alata"/>
              </a:rPr>
              <a:t>- Bus</a:t>
            </a:r>
          </a:p>
          <a:p>
            <a:pPr algn="l">
              <a:lnSpc>
                <a:spcPts val="4060"/>
              </a:lnSpc>
            </a:pPr>
          </a:p>
          <a:p>
            <a:pPr algn="l">
              <a:lnSpc>
                <a:spcPts val="4060"/>
              </a:lnSpc>
            </a:pPr>
            <a:r>
              <a:rPr lang="en-US" sz="2900">
                <a:solidFill>
                  <a:srgbClr val="000000"/>
                </a:solidFill>
                <a:latin typeface="Alata"/>
                <a:ea typeface="Alata"/>
                <a:cs typeface="Alata"/>
                <a:sym typeface="Alata"/>
              </a:rPr>
              <a:t>Rumah -&gt; jalan kaki -&gt; angkot/bus/KRL -&gt; lanjut jalan kaki -&gt; UPJ, atau,</a:t>
            </a:r>
          </a:p>
          <a:p>
            <a:pPr algn="l">
              <a:lnSpc>
                <a:spcPts val="4060"/>
              </a:lnSpc>
            </a:pPr>
          </a:p>
          <a:p>
            <a:pPr algn="l">
              <a:lnSpc>
                <a:spcPts val="4060"/>
              </a:lnSpc>
            </a:pPr>
            <a:r>
              <a:rPr lang="en-US" sz="2900">
                <a:solidFill>
                  <a:srgbClr val="000000"/>
                </a:solidFill>
                <a:latin typeface="Alata"/>
                <a:ea typeface="Alata"/>
                <a:cs typeface="Alata"/>
                <a:sym typeface="Alata"/>
              </a:rPr>
              <a:t>Rumah -&gt; motor/mobil -&gt; UPJ.</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1FCFF"/>
        </a:solidFill>
      </p:bgPr>
    </p:bg>
    <p:spTree>
      <p:nvGrpSpPr>
        <p:cNvPr id="1" name=""/>
        <p:cNvGrpSpPr/>
        <p:nvPr/>
      </p:nvGrpSpPr>
      <p:grpSpPr>
        <a:xfrm>
          <a:off x="0" y="0"/>
          <a:ext cx="0" cy="0"/>
          <a:chOff x="0" y="0"/>
          <a:chExt cx="0" cy="0"/>
        </a:xfrm>
      </p:grpSpPr>
      <p:sp>
        <p:nvSpPr>
          <p:cNvPr name="Freeform 2" id="2"/>
          <p:cNvSpPr/>
          <p:nvPr/>
        </p:nvSpPr>
        <p:spPr>
          <a:xfrm flipH="false" flipV="false" rot="0">
            <a:off x="11660319" y="7205129"/>
            <a:ext cx="6627681" cy="3081871"/>
          </a:xfrm>
          <a:custGeom>
            <a:avLst/>
            <a:gdLst/>
            <a:ahLst/>
            <a:cxnLst/>
            <a:rect r="r" b="b" t="t" l="l"/>
            <a:pathLst>
              <a:path h="3081871" w="6627681">
                <a:moveTo>
                  <a:pt x="0" y="0"/>
                </a:moveTo>
                <a:lnTo>
                  <a:pt x="6627681" y="0"/>
                </a:lnTo>
                <a:lnTo>
                  <a:pt x="6627681" y="3081871"/>
                </a:lnTo>
                <a:lnTo>
                  <a:pt x="0" y="30818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0" y="0"/>
            <a:ext cx="6627681" cy="3081871"/>
          </a:xfrm>
          <a:custGeom>
            <a:avLst/>
            <a:gdLst/>
            <a:ahLst/>
            <a:cxnLst/>
            <a:rect r="r" b="b" t="t" l="l"/>
            <a:pathLst>
              <a:path h="3081871" w="6627681">
                <a:moveTo>
                  <a:pt x="6627681" y="3081871"/>
                </a:moveTo>
                <a:lnTo>
                  <a:pt x="0" y="3081871"/>
                </a:lnTo>
                <a:lnTo>
                  <a:pt x="0" y="0"/>
                </a:lnTo>
                <a:lnTo>
                  <a:pt x="6627681" y="0"/>
                </a:lnTo>
                <a:lnTo>
                  <a:pt x="6627681" y="308187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3447579" y="6254878"/>
            <a:ext cx="630553" cy="6637397"/>
          </a:xfrm>
          <a:custGeom>
            <a:avLst/>
            <a:gdLst/>
            <a:ahLst/>
            <a:cxnLst/>
            <a:rect r="r" b="b" t="t" l="l"/>
            <a:pathLst>
              <a:path h="6637397" w="630553">
                <a:moveTo>
                  <a:pt x="0" y="0"/>
                </a:moveTo>
                <a:lnTo>
                  <a:pt x="630552" y="0"/>
                </a:lnTo>
                <a:lnTo>
                  <a:pt x="630552" y="6637397"/>
                </a:lnTo>
                <a:lnTo>
                  <a:pt x="0" y="66373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5400000">
            <a:off x="14163849" y="-2605275"/>
            <a:ext cx="630553" cy="6637397"/>
          </a:xfrm>
          <a:custGeom>
            <a:avLst/>
            <a:gdLst/>
            <a:ahLst/>
            <a:cxnLst/>
            <a:rect r="r" b="b" t="t" l="l"/>
            <a:pathLst>
              <a:path h="6637397" w="630553">
                <a:moveTo>
                  <a:pt x="630553" y="6637397"/>
                </a:moveTo>
                <a:lnTo>
                  <a:pt x="0" y="6637397"/>
                </a:lnTo>
                <a:lnTo>
                  <a:pt x="0" y="0"/>
                </a:lnTo>
                <a:lnTo>
                  <a:pt x="630553" y="0"/>
                </a:lnTo>
                <a:lnTo>
                  <a:pt x="630553" y="66373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3274335" y="1346342"/>
            <a:ext cx="11739331" cy="867975"/>
          </a:xfrm>
          <a:prstGeom prst="rect">
            <a:avLst/>
          </a:prstGeom>
        </p:spPr>
        <p:txBody>
          <a:bodyPr anchor="t" rtlCol="false" tIns="0" lIns="0" bIns="0" rIns="0">
            <a:spAutoFit/>
          </a:bodyPr>
          <a:lstStyle/>
          <a:p>
            <a:pPr algn="ctr">
              <a:lnSpc>
                <a:spcPts val="7228"/>
              </a:lnSpc>
            </a:pPr>
            <a:r>
              <a:rPr lang="en-US" sz="7228">
                <a:solidFill>
                  <a:srgbClr val="000000"/>
                </a:solidFill>
                <a:latin typeface="Sergio Trendy"/>
                <a:ea typeface="Sergio Trendy"/>
                <a:cs typeface="Sergio Trendy"/>
                <a:sym typeface="Sergio Trendy"/>
              </a:rPr>
              <a:t>PERMASALAHAN</a:t>
            </a:r>
          </a:p>
        </p:txBody>
      </p:sp>
      <p:grpSp>
        <p:nvGrpSpPr>
          <p:cNvPr name="Group 7" id="7"/>
          <p:cNvGrpSpPr/>
          <p:nvPr/>
        </p:nvGrpSpPr>
        <p:grpSpPr>
          <a:xfrm rot="0">
            <a:off x="2151129" y="2881068"/>
            <a:ext cx="13985742" cy="5708333"/>
            <a:chOff x="0" y="0"/>
            <a:chExt cx="3683488" cy="1503429"/>
          </a:xfrm>
        </p:grpSpPr>
        <p:sp>
          <p:nvSpPr>
            <p:cNvPr name="Freeform 8" id="8"/>
            <p:cNvSpPr/>
            <p:nvPr/>
          </p:nvSpPr>
          <p:spPr>
            <a:xfrm flipH="false" flipV="false" rot="0">
              <a:off x="0" y="0"/>
              <a:ext cx="3683488" cy="1503429"/>
            </a:xfrm>
            <a:custGeom>
              <a:avLst/>
              <a:gdLst/>
              <a:ahLst/>
              <a:cxnLst/>
              <a:rect r="r" b="b" t="t" l="l"/>
              <a:pathLst>
                <a:path h="1503429" w="3683488">
                  <a:moveTo>
                    <a:pt x="28231" y="0"/>
                  </a:moveTo>
                  <a:lnTo>
                    <a:pt x="3655256" y="0"/>
                  </a:lnTo>
                  <a:cubicBezTo>
                    <a:pt x="3670848" y="0"/>
                    <a:pt x="3683488" y="12640"/>
                    <a:pt x="3683488" y="28231"/>
                  </a:cubicBezTo>
                  <a:lnTo>
                    <a:pt x="3683488" y="1475198"/>
                  </a:lnTo>
                  <a:cubicBezTo>
                    <a:pt x="3683488" y="1490790"/>
                    <a:pt x="3670848" y="1503429"/>
                    <a:pt x="3655256" y="1503429"/>
                  </a:cubicBezTo>
                  <a:lnTo>
                    <a:pt x="28231" y="1503429"/>
                  </a:lnTo>
                  <a:cubicBezTo>
                    <a:pt x="12640" y="1503429"/>
                    <a:pt x="0" y="1490790"/>
                    <a:pt x="0" y="1475198"/>
                  </a:cubicBezTo>
                  <a:lnTo>
                    <a:pt x="0" y="28231"/>
                  </a:lnTo>
                  <a:cubicBezTo>
                    <a:pt x="0" y="12640"/>
                    <a:pt x="12640" y="0"/>
                    <a:pt x="28231" y="0"/>
                  </a:cubicBezTo>
                  <a:close/>
                </a:path>
              </a:pathLst>
            </a:custGeom>
            <a:solidFill>
              <a:srgbClr val="FFFFFF"/>
            </a:solidFill>
            <a:ln w="38100" cap="rnd">
              <a:solidFill>
                <a:srgbClr val="1C98ED"/>
              </a:solidFill>
              <a:prstDash val="lgDash"/>
              <a:round/>
            </a:ln>
          </p:spPr>
        </p:sp>
        <p:sp>
          <p:nvSpPr>
            <p:cNvPr name="TextBox 9" id="9"/>
            <p:cNvSpPr txBox="true"/>
            <p:nvPr/>
          </p:nvSpPr>
          <p:spPr>
            <a:xfrm>
              <a:off x="0" y="-38100"/>
              <a:ext cx="3683488" cy="1541529"/>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3043332" y="3967510"/>
            <a:ext cx="12201336" cy="2762724"/>
          </a:xfrm>
          <a:prstGeom prst="rect">
            <a:avLst/>
          </a:prstGeom>
        </p:spPr>
        <p:txBody>
          <a:bodyPr anchor="t" rtlCol="false" tIns="0" lIns="0" bIns="0" rIns="0">
            <a:spAutoFit/>
          </a:bodyPr>
          <a:lstStyle/>
          <a:p>
            <a:pPr algn="ctr">
              <a:lnSpc>
                <a:spcPts val="5488"/>
              </a:lnSpc>
            </a:pPr>
            <a:r>
              <a:rPr lang="en-US" sz="3920">
                <a:solidFill>
                  <a:srgbClr val="000000"/>
                </a:solidFill>
                <a:latin typeface="Alata"/>
                <a:ea typeface="Alata"/>
                <a:cs typeface="Alata"/>
                <a:sym typeface="Alata"/>
              </a:rPr>
              <a:t>Waktu tempuh sering lebih lama karena jarak, Rumah -&gt; halte/stasiun -&gt; UPJ. Hampir tidak ada rekomendasi rute yang mempertimbangkan biaya/kenyamanan.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1FCFF"/>
        </a:solidFill>
      </p:bgPr>
    </p:bg>
    <p:spTree>
      <p:nvGrpSpPr>
        <p:cNvPr id="1" name=""/>
        <p:cNvGrpSpPr/>
        <p:nvPr/>
      </p:nvGrpSpPr>
      <p:grpSpPr>
        <a:xfrm>
          <a:off x="0" y="0"/>
          <a:ext cx="0" cy="0"/>
          <a:chOff x="0" y="0"/>
          <a:chExt cx="0" cy="0"/>
        </a:xfrm>
      </p:grpSpPr>
      <p:sp>
        <p:nvSpPr>
          <p:cNvPr name="Freeform 2" id="2"/>
          <p:cNvSpPr/>
          <p:nvPr/>
        </p:nvSpPr>
        <p:spPr>
          <a:xfrm flipH="false" flipV="false" rot="0">
            <a:off x="11660319" y="7205129"/>
            <a:ext cx="6627681" cy="3081871"/>
          </a:xfrm>
          <a:custGeom>
            <a:avLst/>
            <a:gdLst/>
            <a:ahLst/>
            <a:cxnLst/>
            <a:rect r="r" b="b" t="t" l="l"/>
            <a:pathLst>
              <a:path h="3081871" w="6627681">
                <a:moveTo>
                  <a:pt x="0" y="0"/>
                </a:moveTo>
                <a:lnTo>
                  <a:pt x="6627681" y="0"/>
                </a:lnTo>
                <a:lnTo>
                  <a:pt x="6627681" y="3081871"/>
                </a:lnTo>
                <a:lnTo>
                  <a:pt x="0" y="30818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0" y="0"/>
            <a:ext cx="6627681" cy="3081871"/>
          </a:xfrm>
          <a:custGeom>
            <a:avLst/>
            <a:gdLst/>
            <a:ahLst/>
            <a:cxnLst/>
            <a:rect r="r" b="b" t="t" l="l"/>
            <a:pathLst>
              <a:path h="3081871" w="6627681">
                <a:moveTo>
                  <a:pt x="6627681" y="3081871"/>
                </a:moveTo>
                <a:lnTo>
                  <a:pt x="0" y="3081871"/>
                </a:lnTo>
                <a:lnTo>
                  <a:pt x="0" y="0"/>
                </a:lnTo>
                <a:lnTo>
                  <a:pt x="6627681" y="0"/>
                </a:lnTo>
                <a:lnTo>
                  <a:pt x="6627681" y="308187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3447579" y="6254878"/>
            <a:ext cx="630553" cy="6637397"/>
          </a:xfrm>
          <a:custGeom>
            <a:avLst/>
            <a:gdLst/>
            <a:ahLst/>
            <a:cxnLst/>
            <a:rect r="r" b="b" t="t" l="l"/>
            <a:pathLst>
              <a:path h="6637397" w="630553">
                <a:moveTo>
                  <a:pt x="0" y="0"/>
                </a:moveTo>
                <a:lnTo>
                  <a:pt x="630552" y="0"/>
                </a:lnTo>
                <a:lnTo>
                  <a:pt x="630552" y="6637397"/>
                </a:lnTo>
                <a:lnTo>
                  <a:pt x="0" y="66373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5400000">
            <a:off x="14163849" y="-2605275"/>
            <a:ext cx="630553" cy="6637397"/>
          </a:xfrm>
          <a:custGeom>
            <a:avLst/>
            <a:gdLst/>
            <a:ahLst/>
            <a:cxnLst/>
            <a:rect r="r" b="b" t="t" l="l"/>
            <a:pathLst>
              <a:path h="6637397" w="630553">
                <a:moveTo>
                  <a:pt x="630553" y="6637397"/>
                </a:moveTo>
                <a:lnTo>
                  <a:pt x="0" y="6637397"/>
                </a:lnTo>
                <a:lnTo>
                  <a:pt x="0" y="0"/>
                </a:lnTo>
                <a:lnTo>
                  <a:pt x="630553" y="0"/>
                </a:lnTo>
                <a:lnTo>
                  <a:pt x="630553" y="66373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2151129" y="1811418"/>
            <a:ext cx="13985742" cy="7446882"/>
            <a:chOff x="0" y="0"/>
            <a:chExt cx="3683488" cy="1961319"/>
          </a:xfrm>
        </p:grpSpPr>
        <p:sp>
          <p:nvSpPr>
            <p:cNvPr name="Freeform 7" id="7"/>
            <p:cNvSpPr/>
            <p:nvPr/>
          </p:nvSpPr>
          <p:spPr>
            <a:xfrm flipH="false" flipV="false" rot="0">
              <a:off x="0" y="0"/>
              <a:ext cx="3683488" cy="1961319"/>
            </a:xfrm>
            <a:custGeom>
              <a:avLst/>
              <a:gdLst/>
              <a:ahLst/>
              <a:cxnLst/>
              <a:rect r="r" b="b" t="t" l="l"/>
              <a:pathLst>
                <a:path h="1961319" w="3683488">
                  <a:moveTo>
                    <a:pt x="28231" y="0"/>
                  </a:moveTo>
                  <a:lnTo>
                    <a:pt x="3655256" y="0"/>
                  </a:lnTo>
                  <a:cubicBezTo>
                    <a:pt x="3670848" y="0"/>
                    <a:pt x="3683488" y="12640"/>
                    <a:pt x="3683488" y="28231"/>
                  </a:cubicBezTo>
                  <a:lnTo>
                    <a:pt x="3683488" y="1933087"/>
                  </a:lnTo>
                  <a:cubicBezTo>
                    <a:pt x="3683488" y="1948679"/>
                    <a:pt x="3670848" y="1961319"/>
                    <a:pt x="3655256" y="1961319"/>
                  </a:cubicBezTo>
                  <a:lnTo>
                    <a:pt x="28231" y="1961319"/>
                  </a:lnTo>
                  <a:cubicBezTo>
                    <a:pt x="12640" y="1961319"/>
                    <a:pt x="0" y="1948679"/>
                    <a:pt x="0" y="1933087"/>
                  </a:cubicBezTo>
                  <a:lnTo>
                    <a:pt x="0" y="28231"/>
                  </a:lnTo>
                  <a:cubicBezTo>
                    <a:pt x="0" y="12640"/>
                    <a:pt x="12640" y="0"/>
                    <a:pt x="28231" y="0"/>
                  </a:cubicBezTo>
                  <a:close/>
                </a:path>
              </a:pathLst>
            </a:custGeom>
            <a:solidFill>
              <a:srgbClr val="FFFFFF"/>
            </a:solidFill>
            <a:ln w="38100" cap="rnd">
              <a:solidFill>
                <a:srgbClr val="1C98ED"/>
              </a:solidFill>
              <a:prstDash val="lgDash"/>
              <a:round/>
            </a:ln>
          </p:spPr>
        </p:sp>
        <p:sp>
          <p:nvSpPr>
            <p:cNvPr name="TextBox 8" id="8"/>
            <p:cNvSpPr txBox="true"/>
            <p:nvPr/>
          </p:nvSpPr>
          <p:spPr>
            <a:xfrm>
              <a:off x="0" y="-38100"/>
              <a:ext cx="3683488" cy="1999419"/>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4985581" y="1866852"/>
            <a:ext cx="7853701" cy="7336013"/>
          </a:xfrm>
          <a:custGeom>
            <a:avLst/>
            <a:gdLst/>
            <a:ahLst/>
            <a:cxnLst/>
            <a:rect r="r" b="b" t="t" l="l"/>
            <a:pathLst>
              <a:path h="7336013" w="7853701">
                <a:moveTo>
                  <a:pt x="0" y="0"/>
                </a:moveTo>
                <a:lnTo>
                  <a:pt x="7853701" y="0"/>
                </a:lnTo>
                <a:lnTo>
                  <a:pt x="7853701" y="7336014"/>
                </a:lnTo>
                <a:lnTo>
                  <a:pt x="0" y="7336014"/>
                </a:lnTo>
                <a:lnTo>
                  <a:pt x="0" y="0"/>
                </a:lnTo>
                <a:close/>
              </a:path>
            </a:pathLst>
          </a:custGeom>
          <a:blipFill>
            <a:blip r:embed="rId6"/>
            <a:stretch>
              <a:fillRect l="0" t="0" r="0" b="0"/>
            </a:stretch>
          </a:blipFill>
        </p:spPr>
      </p:sp>
      <p:sp>
        <p:nvSpPr>
          <p:cNvPr name="TextBox 10" id="10"/>
          <p:cNvSpPr txBox="true"/>
          <p:nvPr/>
        </p:nvSpPr>
        <p:spPr>
          <a:xfrm rot="0">
            <a:off x="1331220" y="942024"/>
            <a:ext cx="11739331" cy="869394"/>
          </a:xfrm>
          <a:prstGeom prst="rect">
            <a:avLst/>
          </a:prstGeom>
        </p:spPr>
        <p:txBody>
          <a:bodyPr anchor="t" rtlCol="false" tIns="0" lIns="0" bIns="0" rIns="0">
            <a:spAutoFit/>
          </a:bodyPr>
          <a:lstStyle/>
          <a:p>
            <a:pPr algn="l">
              <a:lnSpc>
                <a:spcPts val="7228"/>
              </a:lnSpc>
            </a:pPr>
            <a:r>
              <a:rPr lang="en-US" sz="7228">
                <a:solidFill>
                  <a:srgbClr val="000000"/>
                </a:solidFill>
                <a:latin typeface="Sergio Trendy"/>
                <a:ea typeface="Sergio Trendy"/>
                <a:cs typeface="Sergio Trendy"/>
                <a:sym typeface="Sergio Trendy"/>
              </a:rPr>
              <a:t>PENYELESAIAN</a:t>
            </a:r>
          </a:p>
        </p:txBody>
      </p:sp>
      <p:sp>
        <p:nvSpPr>
          <p:cNvPr name="TextBox 11" id="11"/>
          <p:cNvSpPr txBox="true"/>
          <p:nvPr/>
        </p:nvSpPr>
        <p:spPr>
          <a:xfrm rot="0">
            <a:off x="12427342" y="1920306"/>
            <a:ext cx="1286418" cy="523875"/>
          </a:xfrm>
          <a:prstGeom prst="rect">
            <a:avLst/>
          </a:prstGeom>
        </p:spPr>
        <p:txBody>
          <a:bodyPr anchor="t" rtlCol="false" tIns="0" lIns="0" bIns="0" rIns="0">
            <a:spAutoFit/>
          </a:bodyPr>
          <a:lstStyle/>
          <a:p>
            <a:pPr algn="ctr">
              <a:lnSpc>
                <a:spcPts val="4200"/>
              </a:lnSpc>
            </a:pPr>
            <a:r>
              <a:rPr lang="en-US" sz="3000">
                <a:solidFill>
                  <a:srgbClr val="000000"/>
                </a:solidFill>
                <a:latin typeface="Alata"/>
                <a:ea typeface="Alata"/>
                <a:cs typeface="Alata"/>
                <a:sym typeface="Alata"/>
              </a:rPr>
              <a:t>A</a:t>
            </a:r>
          </a:p>
        </p:txBody>
      </p:sp>
      <p:sp>
        <p:nvSpPr>
          <p:cNvPr name="TextBox 12" id="12"/>
          <p:cNvSpPr txBox="true"/>
          <p:nvPr/>
        </p:nvSpPr>
        <p:spPr>
          <a:xfrm rot="0">
            <a:off x="12427342" y="8450789"/>
            <a:ext cx="1286418" cy="523875"/>
          </a:xfrm>
          <a:prstGeom prst="rect">
            <a:avLst/>
          </a:prstGeom>
        </p:spPr>
        <p:txBody>
          <a:bodyPr anchor="t" rtlCol="false" tIns="0" lIns="0" bIns="0" rIns="0">
            <a:spAutoFit/>
          </a:bodyPr>
          <a:lstStyle/>
          <a:p>
            <a:pPr algn="ctr">
              <a:lnSpc>
                <a:spcPts val="4200"/>
              </a:lnSpc>
            </a:pPr>
            <a:r>
              <a:rPr lang="en-US" sz="3000">
                <a:solidFill>
                  <a:srgbClr val="000000"/>
                </a:solidFill>
                <a:latin typeface="Alata"/>
                <a:ea typeface="Alata"/>
                <a:cs typeface="Alata"/>
                <a:sym typeface="Alata"/>
              </a:rPr>
              <a:t>B</a:t>
            </a:r>
          </a:p>
        </p:txBody>
      </p:sp>
      <p:sp>
        <p:nvSpPr>
          <p:cNvPr name="TextBox 13" id="13"/>
          <p:cNvSpPr txBox="true"/>
          <p:nvPr/>
        </p:nvSpPr>
        <p:spPr>
          <a:xfrm rot="0">
            <a:off x="7857582" y="2377506"/>
            <a:ext cx="1286418" cy="523875"/>
          </a:xfrm>
          <a:prstGeom prst="rect">
            <a:avLst/>
          </a:prstGeom>
        </p:spPr>
        <p:txBody>
          <a:bodyPr anchor="t" rtlCol="false" tIns="0" lIns="0" bIns="0" rIns="0">
            <a:spAutoFit/>
          </a:bodyPr>
          <a:lstStyle/>
          <a:p>
            <a:pPr algn="ctr">
              <a:lnSpc>
                <a:spcPts val="4200"/>
              </a:lnSpc>
            </a:pPr>
            <a:r>
              <a:rPr lang="en-US" sz="3000">
                <a:solidFill>
                  <a:srgbClr val="000000"/>
                </a:solidFill>
                <a:latin typeface="Alata"/>
                <a:ea typeface="Alata"/>
                <a:cs typeface="Alata"/>
                <a:sym typeface="Alata"/>
              </a:rPr>
              <a:t>C</a:t>
            </a:r>
          </a:p>
        </p:txBody>
      </p:sp>
      <p:sp>
        <p:nvSpPr>
          <p:cNvPr name="TextBox 14" id="14"/>
          <p:cNvSpPr txBox="true"/>
          <p:nvPr/>
        </p:nvSpPr>
        <p:spPr>
          <a:xfrm rot="0">
            <a:off x="7857582" y="7993589"/>
            <a:ext cx="1286418" cy="523875"/>
          </a:xfrm>
          <a:prstGeom prst="rect">
            <a:avLst/>
          </a:prstGeom>
        </p:spPr>
        <p:txBody>
          <a:bodyPr anchor="t" rtlCol="false" tIns="0" lIns="0" bIns="0" rIns="0">
            <a:spAutoFit/>
          </a:bodyPr>
          <a:lstStyle/>
          <a:p>
            <a:pPr algn="ctr">
              <a:lnSpc>
                <a:spcPts val="4200"/>
              </a:lnSpc>
            </a:pPr>
            <a:r>
              <a:rPr lang="en-US" sz="3000">
                <a:solidFill>
                  <a:srgbClr val="000000"/>
                </a:solidFill>
                <a:latin typeface="Alata"/>
                <a:ea typeface="Alata"/>
                <a:cs typeface="Alata"/>
                <a:sym typeface="Alata"/>
              </a:rPr>
              <a:t>D</a:t>
            </a:r>
          </a:p>
        </p:txBody>
      </p:sp>
      <p:sp>
        <p:nvSpPr>
          <p:cNvPr name="TextBox 15" id="15"/>
          <p:cNvSpPr txBox="true"/>
          <p:nvPr/>
        </p:nvSpPr>
        <p:spPr>
          <a:xfrm rot="0">
            <a:off x="4640385" y="5468184"/>
            <a:ext cx="1286418" cy="523875"/>
          </a:xfrm>
          <a:prstGeom prst="rect">
            <a:avLst/>
          </a:prstGeom>
        </p:spPr>
        <p:txBody>
          <a:bodyPr anchor="t" rtlCol="false" tIns="0" lIns="0" bIns="0" rIns="0">
            <a:spAutoFit/>
          </a:bodyPr>
          <a:lstStyle/>
          <a:p>
            <a:pPr algn="ctr">
              <a:lnSpc>
                <a:spcPts val="4200"/>
              </a:lnSpc>
            </a:pPr>
            <a:r>
              <a:rPr lang="en-US" sz="3000">
                <a:solidFill>
                  <a:srgbClr val="000000"/>
                </a:solidFill>
                <a:latin typeface="Alata"/>
                <a:ea typeface="Alata"/>
                <a:cs typeface="Alata"/>
                <a:sym typeface="Alata"/>
              </a:rPr>
              <a:t>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1FCFF"/>
        </a:solidFill>
      </p:bgPr>
    </p:bg>
    <p:spTree>
      <p:nvGrpSpPr>
        <p:cNvPr id="1" name=""/>
        <p:cNvGrpSpPr/>
        <p:nvPr/>
      </p:nvGrpSpPr>
      <p:grpSpPr>
        <a:xfrm>
          <a:off x="0" y="0"/>
          <a:ext cx="0" cy="0"/>
          <a:chOff x="0" y="0"/>
          <a:chExt cx="0" cy="0"/>
        </a:xfrm>
      </p:grpSpPr>
      <p:sp>
        <p:nvSpPr>
          <p:cNvPr name="Freeform 2" id="2"/>
          <p:cNvSpPr/>
          <p:nvPr/>
        </p:nvSpPr>
        <p:spPr>
          <a:xfrm flipH="false" flipV="false" rot="0">
            <a:off x="11660319" y="7205129"/>
            <a:ext cx="6627681" cy="3081871"/>
          </a:xfrm>
          <a:custGeom>
            <a:avLst/>
            <a:gdLst/>
            <a:ahLst/>
            <a:cxnLst/>
            <a:rect r="r" b="b" t="t" l="l"/>
            <a:pathLst>
              <a:path h="3081871" w="6627681">
                <a:moveTo>
                  <a:pt x="0" y="0"/>
                </a:moveTo>
                <a:lnTo>
                  <a:pt x="6627681" y="0"/>
                </a:lnTo>
                <a:lnTo>
                  <a:pt x="6627681" y="3081871"/>
                </a:lnTo>
                <a:lnTo>
                  <a:pt x="0" y="30818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0" y="0"/>
            <a:ext cx="6627681" cy="3081871"/>
          </a:xfrm>
          <a:custGeom>
            <a:avLst/>
            <a:gdLst/>
            <a:ahLst/>
            <a:cxnLst/>
            <a:rect r="r" b="b" t="t" l="l"/>
            <a:pathLst>
              <a:path h="3081871" w="6627681">
                <a:moveTo>
                  <a:pt x="6627681" y="3081871"/>
                </a:moveTo>
                <a:lnTo>
                  <a:pt x="0" y="3081871"/>
                </a:lnTo>
                <a:lnTo>
                  <a:pt x="0" y="0"/>
                </a:lnTo>
                <a:lnTo>
                  <a:pt x="6627681" y="0"/>
                </a:lnTo>
                <a:lnTo>
                  <a:pt x="6627681" y="308187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3447579" y="6254878"/>
            <a:ext cx="630553" cy="6637397"/>
          </a:xfrm>
          <a:custGeom>
            <a:avLst/>
            <a:gdLst/>
            <a:ahLst/>
            <a:cxnLst/>
            <a:rect r="r" b="b" t="t" l="l"/>
            <a:pathLst>
              <a:path h="6637397" w="630553">
                <a:moveTo>
                  <a:pt x="0" y="0"/>
                </a:moveTo>
                <a:lnTo>
                  <a:pt x="630552" y="0"/>
                </a:lnTo>
                <a:lnTo>
                  <a:pt x="630552" y="6637397"/>
                </a:lnTo>
                <a:lnTo>
                  <a:pt x="0" y="66373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5400000">
            <a:off x="14163849" y="-2605275"/>
            <a:ext cx="630553" cy="6637397"/>
          </a:xfrm>
          <a:custGeom>
            <a:avLst/>
            <a:gdLst/>
            <a:ahLst/>
            <a:cxnLst/>
            <a:rect r="r" b="b" t="t" l="l"/>
            <a:pathLst>
              <a:path h="6637397" w="630553">
                <a:moveTo>
                  <a:pt x="630553" y="6637397"/>
                </a:moveTo>
                <a:lnTo>
                  <a:pt x="0" y="6637397"/>
                </a:lnTo>
                <a:lnTo>
                  <a:pt x="0" y="0"/>
                </a:lnTo>
                <a:lnTo>
                  <a:pt x="630553" y="0"/>
                </a:lnTo>
                <a:lnTo>
                  <a:pt x="630553" y="66373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3274335" y="1346342"/>
            <a:ext cx="11739331" cy="867975"/>
          </a:xfrm>
          <a:prstGeom prst="rect">
            <a:avLst/>
          </a:prstGeom>
        </p:spPr>
        <p:txBody>
          <a:bodyPr anchor="t" rtlCol="false" tIns="0" lIns="0" bIns="0" rIns="0">
            <a:spAutoFit/>
          </a:bodyPr>
          <a:lstStyle/>
          <a:p>
            <a:pPr algn="ctr">
              <a:lnSpc>
                <a:spcPts val="7228"/>
              </a:lnSpc>
            </a:pPr>
            <a:r>
              <a:rPr lang="en-US" sz="7228">
                <a:solidFill>
                  <a:srgbClr val="000000"/>
                </a:solidFill>
                <a:latin typeface="Sergio Trendy"/>
                <a:ea typeface="Sergio Trendy"/>
                <a:cs typeface="Sergio Trendy"/>
                <a:sym typeface="Sergio Trendy"/>
              </a:rPr>
              <a:t>PENYELESAIAN</a:t>
            </a:r>
          </a:p>
        </p:txBody>
      </p:sp>
      <p:grpSp>
        <p:nvGrpSpPr>
          <p:cNvPr name="Group 7" id="7"/>
          <p:cNvGrpSpPr/>
          <p:nvPr/>
        </p:nvGrpSpPr>
        <p:grpSpPr>
          <a:xfrm rot="0">
            <a:off x="2151129" y="2881068"/>
            <a:ext cx="13985742" cy="5708333"/>
            <a:chOff x="0" y="0"/>
            <a:chExt cx="3683488" cy="1503429"/>
          </a:xfrm>
        </p:grpSpPr>
        <p:sp>
          <p:nvSpPr>
            <p:cNvPr name="Freeform 8" id="8"/>
            <p:cNvSpPr/>
            <p:nvPr/>
          </p:nvSpPr>
          <p:spPr>
            <a:xfrm flipH="false" flipV="false" rot="0">
              <a:off x="0" y="0"/>
              <a:ext cx="3683488" cy="1503429"/>
            </a:xfrm>
            <a:custGeom>
              <a:avLst/>
              <a:gdLst/>
              <a:ahLst/>
              <a:cxnLst/>
              <a:rect r="r" b="b" t="t" l="l"/>
              <a:pathLst>
                <a:path h="1503429" w="3683488">
                  <a:moveTo>
                    <a:pt x="28231" y="0"/>
                  </a:moveTo>
                  <a:lnTo>
                    <a:pt x="3655256" y="0"/>
                  </a:lnTo>
                  <a:cubicBezTo>
                    <a:pt x="3670848" y="0"/>
                    <a:pt x="3683488" y="12640"/>
                    <a:pt x="3683488" y="28231"/>
                  </a:cubicBezTo>
                  <a:lnTo>
                    <a:pt x="3683488" y="1475198"/>
                  </a:lnTo>
                  <a:cubicBezTo>
                    <a:pt x="3683488" y="1490790"/>
                    <a:pt x="3670848" y="1503429"/>
                    <a:pt x="3655256" y="1503429"/>
                  </a:cubicBezTo>
                  <a:lnTo>
                    <a:pt x="28231" y="1503429"/>
                  </a:lnTo>
                  <a:cubicBezTo>
                    <a:pt x="12640" y="1503429"/>
                    <a:pt x="0" y="1490790"/>
                    <a:pt x="0" y="1475198"/>
                  </a:cubicBezTo>
                  <a:lnTo>
                    <a:pt x="0" y="28231"/>
                  </a:lnTo>
                  <a:cubicBezTo>
                    <a:pt x="0" y="12640"/>
                    <a:pt x="12640" y="0"/>
                    <a:pt x="28231" y="0"/>
                  </a:cubicBezTo>
                  <a:close/>
                </a:path>
              </a:pathLst>
            </a:custGeom>
            <a:solidFill>
              <a:srgbClr val="FFFFFF"/>
            </a:solidFill>
            <a:ln w="38100" cap="rnd">
              <a:solidFill>
                <a:srgbClr val="1C98ED"/>
              </a:solidFill>
              <a:prstDash val="lgDash"/>
              <a:round/>
            </a:ln>
          </p:spPr>
        </p:sp>
        <p:sp>
          <p:nvSpPr>
            <p:cNvPr name="TextBox 9" id="9"/>
            <p:cNvSpPr txBox="true"/>
            <p:nvPr/>
          </p:nvSpPr>
          <p:spPr>
            <a:xfrm>
              <a:off x="0" y="-38100"/>
              <a:ext cx="3683488" cy="1541529"/>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2804801" y="4445640"/>
            <a:ext cx="12678398" cy="1810385"/>
          </a:xfrm>
          <a:prstGeom prst="rect">
            <a:avLst/>
          </a:prstGeom>
        </p:spPr>
        <p:txBody>
          <a:bodyPr anchor="t" rtlCol="false" tIns="0" lIns="0" bIns="0" rIns="0">
            <a:spAutoFit/>
          </a:bodyPr>
          <a:lstStyle/>
          <a:p>
            <a:pPr algn="l">
              <a:lnSpc>
                <a:spcPts val="3640"/>
              </a:lnSpc>
            </a:pPr>
            <a:r>
              <a:rPr lang="en-US" sz="2600">
                <a:solidFill>
                  <a:srgbClr val="000000"/>
                </a:solidFill>
                <a:latin typeface="Alata"/>
                <a:ea typeface="Alata"/>
                <a:cs typeface="Alata"/>
                <a:sym typeface="Alata"/>
              </a:rPr>
              <a:t>1. Rumah (Graha) -&gt; Halte Trans -&gt; UPJ : 5 + 15 = 20 menit</a:t>
            </a:r>
          </a:p>
          <a:p>
            <a:pPr algn="l">
              <a:lnSpc>
                <a:spcPts val="3640"/>
              </a:lnSpc>
            </a:pPr>
            <a:r>
              <a:rPr lang="en-US" sz="2600">
                <a:solidFill>
                  <a:srgbClr val="000000"/>
                </a:solidFill>
                <a:latin typeface="Alata"/>
                <a:ea typeface="Alata"/>
                <a:cs typeface="Alata"/>
                <a:sym typeface="Alata"/>
              </a:rPr>
              <a:t>2. Rumah (Graha) -&gt; Stasiun -&gt; UPJ : 20 + 8 = 28 menit</a:t>
            </a:r>
          </a:p>
          <a:p>
            <a:pPr algn="l">
              <a:lnSpc>
                <a:spcPts val="3640"/>
              </a:lnSpc>
            </a:pPr>
            <a:r>
              <a:rPr lang="en-US" sz="2600">
                <a:solidFill>
                  <a:srgbClr val="000000"/>
                </a:solidFill>
                <a:latin typeface="Alata"/>
                <a:ea typeface="Alata"/>
                <a:cs typeface="Alata"/>
                <a:sym typeface="Alata"/>
              </a:rPr>
              <a:t>3. Rumah (BSD) -&gt; Stasiun  -&gt; UPJ : 10 + 8 = 18 menit</a:t>
            </a:r>
          </a:p>
          <a:p>
            <a:pPr algn="l">
              <a:lnSpc>
                <a:spcPts val="3640"/>
              </a:lnSpc>
            </a:pPr>
            <a:r>
              <a:rPr lang="en-US" sz="2600">
                <a:solidFill>
                  <a:srgbClr val="000000"/>
                </a:solidFill>
                <a:latin typeface="Alata"/>
                <a:ea typeface="Alata"/>
                <a:cs typeface="Alata"/>
                <a:sym typeface="Alata"/>
              </a:rPr>
              <a:t>4. Rumah (BSD) -&gt; Halte Trans -&gt; UPJ : 20 + 15 = 35 menit</a:t>
            </a:r>
          </a:p>
        </p:txBody>
      </p:sp>
      <p:sp>
        <p:nvSpPr>
          <p:cNvPr name="TextBox 11" id="11"/>
          <p:cNvSpPr txBox="true"/>
          <p:nvPr/>
        </p:nvSpPr>
        <p:spPr>
          <a:xfrm rot="0">
            <a:off x="2804801" y="6733324"/>
            <a:ext cx="12678398" cy="895985"/>
          </a:xfrm>
          <a:prstGeom prst="rect">
            <a:avLst/>
          </a:prstGeom>
        </p:spPr>
        <p:txBody>
          <a:bodyPr anchor="t" rtlCol="false" tIns="0" lIns="0" bIns="0" rIns="0">
            <a:spAutoFit/>
          </a:bodyPr>
          <a:lstStyle/>
          <a:p>
            <a:pPr algn="l">
              <a:lnSpc>
                <a:spcPts val="3640"/>
              </a:lnSpc>
            </a:pPr>
            <a:r>
              <a:rPr lang="en-US" sz="2600">
                <a:solidFill>
                  <a:srgbClr val="000000"/>
                </a:solidFill>
                <a:latin typeface="Alata"/>
                <a:ea typeface="Alata"/>
                <a:cs typeface="Alata"/>
                <a:sym typeface="Alata"/>
              </a:rPr>
              <a:t>1. A -&gt; C -&gt; E = 20 menit</a:t>
            </a:r>
          </a:p>
          <a:p>
            <a:pPr algn="l">
              <a:lnSpc>
                <a:spcPts val="3640"/>
              </a:lnSpc>
            </a:pPr>
            <a:r>
              <a:rPr lang="en-US" sz="2600">
                <a:solidFill>
                  <a:srgbClr val="000000"/>
                </a:solidFill>
                <a:latin typeface="Alata"/>
                <a:ea typeface="Alata"/>
                <a:cs typeface="Alata"/>
                <a:sym typeface="Alata"/>
              </a:rPr>
              <a:t>2. B -&gt; D  -&gt; E = 18 menit</a:t>
            </a:r>
          </a:p>
        </p:txBody>
      </p:sp>
      <p:sp>
        <p:nvSpPr>
          <p:cNvPr name="TextBox 12" id="12"/>
          <p:cNvSpPr txBox="true"/>
          <p:nvPr/>
        </p:nvSpPr>
        <p:spPr>
          <a:xfrm rot="0">
            <a:off x="2804801" y="3240410"/>
            <a:ext cx="12678398" cy="728980"/>
          </a:xfrm>
          <a:prstGeom prst="rect">
            <a:avLst/>
          </a:prstGeom>
        </p:spPr>
        <p:txBody>
          <a:bodyPr anchor="t" rtlCol="false" tIns="0" lIns="0" bIns="0" rIns="0">
            <a:spAutoFit/>
          </a:bodyPr>
          <a:lstStyle/>
          <a:p>
            <a:pPr algn="l">
              <a:lnSpc>
                <a:spcPts val="6019"/>
              </a:lnSpc>
            </a:pPr>
            <a:r>
              <a:rPr lang="en-US" sz="4299">
                <a:solidFill>
                  <a:srgbClr val="000000"/>
                </a:solidFill>
                <a:latin typeface="Alata"/>
                <a:ea typeface="Alata"/>
                <a:cs typeface="Alata"/>
                <a:sym typeface="Alata"/>
              </a:rPr>
              <a:t>Djikstra</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1FCFF"/>
        </a:solidFill>
      </p:bgPr>
    </p:bg>
    <p:spTree>
      <p:nvGrpSpPr>
        <p:cNvPr id="1" name=""/>
        <p:cNvGrpSpPr/>
        <p:nvPr/>
      </p:nvGrpSpPr>
      <p:grpSpPr>
        <a:xfrm>
          <a:off x="0" y="0"/>
          <a:ext cx="0" cy="0"/>
          <a:chOff x="0" y="0"/>
          <a:chExt cx="0" cy="0"/>
        </a:xfrm>
      </p:grpSpPr>
      <p:sp>
        <p:nvSpPr>
          <p:cNvPr name="Freeform 2" id="2"/>
          <p:cNvSpPr/>
          <p:nvPr/>
        </p:nvSpPr>
        <p:spPr>
          <a:xfrm flipH="false" flipV="false" rot="0">
            <a:off x="11660319" y="7205129"/>
            <a:ext cx="6627681" cy="3081871"/>
          </a:xfrm>
          <a:custGeom>
            <a:avLst/>
            <a:gdLst/>
            <a:ahLst/>
            <a:cxnLst/>
            <a:rect r="r" b="b" t="t" l="l"/>
            <a:pathLst>
              <a:path h="3081871" w="6627681">
                <a:moveTo>
                  <a:pt x="0" y="0"/>
                </a:moveTo>
                <a:lnTo>
                  <a:pt x="6627681" y="0"/>
                </a:lnTo>
                <a:lnTo>
                  <a:pt x="6627681" y="3081871"/>
                </a:lnTo>
                <a:lnTo>
                  <a:pt x="0" y="30818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0" y="0"/>
            <a:ext cx="6627681" cy="3081871"/>
          </a:xfrm>
          <a:custGeom>
            <a:avLst/>
            <a:gdLst/>
            <a:ahLst/>
            <a:cxnLst/>
            <a:rect r="r" b="b" t="t" l="l"/>
            <a:pathLst>
              <a:path h="3081871" w="6627681">
                <a:moveTo>
                  <a:pt x="6627681" y="3081871"/>
                </a:moveTo>
                <a:lnTo>
                  <a:pt x="0" y="3081871"/>
                </a:lnTo>
                <a:lnTo>
                  <a:pt x="0" y="0"/>
                </a:lnTo>
                <a:lnTo>
                  <a:pt x="6627681" y="0"/>
                </a:lnTo>
                <a:lnTo>
                  <a:pt x="6627681" y="308187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3447579" y="6254878"/>
            <a:ext cx="630553" cy="6637397"/>
          </a:xfrm>
          <a:custGeom>
            <a:avLst/>
            <a:gdLst/>
            <a:ahLst/>
            <a:cxnLst/>
            <a:rect r="r" b="b" t="t" l="l"/>
            <a:pathLst>
              <a:path h="6637397" w="630553">
                <a:moveTo>
                  <a:pt x="0" y="0"/>
                </a:moveTo>
                <a:lnTo>
                  <a:pt x="630552" y="0"/>
                </a:lnTo>
                <a:lnTo>
                  <a:pt x="630552" y="6637397"/>
                </a:lnTo>
                <a:lnTo>
                  <a:pt x="0" y="66373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5400000">
            <a:off x="14163849" y="-2605275"/>
            <a:ext cx="630553" cy="6637397"/>
          </a:xfrm>
          <a:custGeom>
            <a:avLst/>
            <a:gdLst/>
            <a:ahLst/>
            <a:cxnLst/>
            <a:rect r="r" b="b" t="t" l="l"/>
            <a:pathLst>
              <a:path h="6637397" w="630553">
                <a:moveTo>
                  <a:pt x="630553" y="6637397"/>
                </a:moveTo>
                <a:lnTo>
                  <a:pt x="0" y="6637397"/>
                </a:lnTo>
                <a:lnTo>
                  <a:pt x="0" y="0"/>
                </a:lnTo>
                <a:lnTo>
                  <a:pt x="630553" y="0"/>
                </a:lnTo>
                <a:lnTo>
                  <a:pt x="630553" y="66373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3274335" y="1346342"/>
            <a:ext cx="11739331" cy="867975"/>
          </a:xfrm>
          <a:prstGeom prst="rect">
            <a:avLst/>
          </a:prstGeom>
        </p:spPr>
        <p:txBody>
          <a:bodyPr anchor="t" rtlCol="false" tIns="0" lIns="0" bIns="0" rIns="0">
            <a:spAutoFit/>
          </a:bodyPr>
          <a:lstStyle/>
          <a:p>
            <a:pPr algn="ctr">
              <a:lnSpc>
                <a:spcPts val="7228"/>
              </a:lnSpc>
            </a:pPr>
            <a:r>
              <a:rPr lang="en-US" sz="7228">
                <a:solidFill>
                  <a:srgbClr val="000000"/>
                </a:solidFill>
                <a:latin typeface="Sergio Trendy"/>
                <a:ea typeface="Sergio Trendy"/>
                <a:cs typeface="Sergio Trendy"/>
                <a:sym typeface="Sergio Trendy"/>
              </a:rPr>
              <a:t>REFERENSI</a:t>
            </a:r>
          </a:p>
        </p:txBody>
      </p:sp>
      <p:grpSp>
        <p:nvGrpSpPr>
          <p:cNvPr name="Group 7" id="7"/>
          <p:cNvGrpSpPr/>
          <p:nvPr/>
        </p:nvGrpSpPr>
        <p:grpSpPr>
          <a:xfrm rot="0">
            <a:off x="2151129" y="2881068"/>
            <a:ext cx="13985742" cy="5708333"/>
            <a:chOff x="0" y="0"/>
            <a:chExt cx="3683488" cy="1503429"/>
          </a:xfrm>
        </p:grpSpPr>
        <p:sp>
          <p:nvSpPr>
            <p:cNvPr name="Freeform 8" id="8"/>
            <p:cNvSpPr/>
            <p:nvPr/>
          </p:nvSpPr>
          <p:spPr>
            <a:xfrm flipH="false" flipV="false" rot="0">
              <a:off x="0" y="0"/>
              <a:ext cx="3683488" cy="1503429"/>
            </a:xfrm>
            <a:custGeom>
              <a:avLst/>
              <a:gdLst/>
              <a:ahLst/>
              <a:cxnLst/>
              <a:rect r="r" b="b" t="t" l="l"/>
              <a:pathLst>
                <a:path h="1503429" w="3683488">
                  <a:moveTo>
                    <a:pt x="28231" y="0"/>
                  </a:moveTo>
                  <a:lnTo>
                    <a:pt x="3655256" y="0"/>
                  </a:lnTo>
                  <a:cubicBezTo>
                    <a:pt x="3670848" y="0"/>
                    <a:pt x="3683488" y="12640"/>
                    <a:pt x="3683488" y="28231"/>
                  </a:cubicBezTo>
                  <a:lnTo>
                    <a:pt x="3683488" y="1475198"/>
                  </a:lnTo>
                  <a:cubicBezTo>
                    <a:pt x="3683488" y="1490790"/>
                    <a:pt x="3670848" y="1503429"/>
                    <a:pt x="3655256" y="1503429"/>
                  </a:cubicBezTo>
                  <a:lnTo>
                    <a:pt x="28231" y="1503429"/>
                  </a:lnTo>
                  <a:cubicBezTo>
                    <a:pt x="12640" y="1503429"/>
                    <a:pt x="0" y="1490790"/>
                    <a:pt x="0" y="1475198"/>
                  </a:cubicBezTo>
                  <a:lnTo>
                    <a:pt x="0" y="28231"/>
                  </a:lnTo>
                  <a:cubicBezTo>
                    <a:pt x="0" y="12640"/>
                    <a:pt x="12640" y="0"/>
                    <a:pt x="28231" y="0"/>
                  </a:cubicBezTo>
                  <a:close/>
                </a:path>
              </a:pathLst>
            </a:custGeom>
            <a:solidFill>
              <a:srgbClr val="FFFFFF"/>
            </a:solidFill>
            <a:ln w="38100" cap="rnd">
              <a:solidFill>
                <a:srgbClr val="1C98ED"/>
              </a:solidFill>
              <a:prstDash val="lgDash"/>
              <a:round/>
            </a:ln>
          </p:spPr>
        </p:sp>
        <p:sp>
          <p:nvSpPr>
            <p:cNvPr name="TextBox 9" id="9"/>
            <p:cNvSpPr txBox="true"/>
            <p:nvPr/>
          </p:nvSpPr>
          <p:spPr>
            <a:xfrm>
              <a:off x="0" y="-38100"/>
              <a:ext cx="3683488" cy="1541529"/>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3043332" y="3307553"/>
            <a:ext cx="12201336" cy="1054100"/>
          </a:xfrm>
          <a:prstGeom prst="rect">
            <a:avLst/>
          </a:prstGeom>
        </p:spPr>
        <p:txBody>
          <a:bodyPr anchor="t" rtlCol="false" tIns="0" lIns="0" bIns="0" rIns="0">
            <a:spAutoFit/>
          </a:bodyPr>
          <a:lstStyle/>
          <a:p>
            <a:pPr algn="ctr">
              <a:lnSpc>
                <a:spcPts val="2800"/>
              </a:lnSpc>
            </a:pPr>
            <a:r>
              <a:rPr lang="en-US" sz="2000">
                <a:solidFill>
                  <a:srgbClr val="000000"/>
                </a:solidFill>
                <a:latin typeface="Alata"/>
                <a:ea typeface="Alata"/>
                <a:cs typeface="Alata"/>
                <a:sym typeface="Alata"/>
              </a:rPr>
              <a:t>Awalloedin, N., Gata, W., &amp; Qomariyah, N. (2023). Algoritma Dijkstra dalam penentuan rute terpendek pada jalan raya antar kota Jakarta–Tangerang. Jurnal Sains dan Teknologi Informasi, 9(2), 122–130. Universitas Muhammadiyah Jakarta. https://jurnal.umj.ac.id/index.php/just-it/article/view/8327 </a:t>
            </a:r>
          </a:p>
        </p:txBody>
      </p:sp>
      <p:sp>
        <p:nvSpPr>
          <p:cNvPr name="TextBox 11" id="11"/>
          <p:cNvSpPr txBox="true"/>
          <p:nvPr/>
        </p:nvSpPr>
        <p:spPr>
          <a:xfrm rot="0">
            <a:off x="3043332" y="5184371"/>
            <a:ext cx="12201336" cy="1054100"/>
          </a:xfrm>
          <a:prstGeom prst="rect">
            <a:avLst/>
          </a:prstGeom>
        </p:spPr>
        <p:txBody>
          <a:bodyPr anchor="t" rtlCol="false" tIns="0" lIns="0" bIns="0" rIns="0">
            <a:spAutoFit/>
          </a:bodyPr>
          <a:lstStyle/>
          <a:p>
            <a:pPr algn="ctr">
              <a:lnSpc>
                <a:spcPts val="2800"/>
              </a:lnSpc>
            </a:pPr>
            <a:r>
              <a:rPr lang="en-US" sz="2000">
                <a:solidFill>
                  <a:srgbClr val="000000"/>
                </a:solidFill>
                <a:latin typeface="Alata"/>
                <a:ea typeface="Alata"/>
                <a:cs typeface="Alata"/>
                <a:sym typeface="Alata"/>
              </a:rPr>
              <a:t>Rahmadi, D., Putri, T. N., Ats, D., Rohmah, S. M., &amp; Safinka, D. N. (2025). Optimasi jalur perjalanan antara Jakarta dan Surabaya menggunakan algoritma Dijkstra. Aqlu Journal of Science, 2(1), 45–56. https://jurnal.yalamqa.com/index.php/aqlu/article/view/140 </a:t>
            </a:r>
          </a:p>
        </p:txBody>
      </p:sp>
      <p:sp>
        <p:nvSpPr>
          <p:cNvPr name="TextBox 12" id="12"/>
          <p:cNvSpPr txBox="true"/>
          <p:nvPr/>
        </p:nvSpPr>
        <p:spPr>
          <a:xfrm rot="0">
            <a:off x="3043332" y="7157504"/>
            <a:ext cx="12201336" cy="1054100"/>
          </a:xfrm>
          <a:prstGeom prst="rect">
            <a:avLst/>
          </a:prstGeom>
        </p:spPr>
        <p:txBody>
          <a:bodyPr anchor="t" rtlCol="false" tIns="0" lIns="0" bIns="0" rIns="0">
            <a:spAutoFit/>
          </a:bodyPr>
          <a:lstStyle/>
          <a:p>
            <a:pPr algn="ctr">
              <a:lnSpc>
                <a:spcPts val="2800"/>
              </a:lnSpc>
            </a:pPr>
            <a:r>
              <a:rPr lang="en-US" sz="2000">
                <a:solidFill>
                  <a:srgbClr val="000000"/>
                </a:solidFill>
                <a:latin typeface="Alata"/>
                <a:ea typeface="Alata"/>
                <a:cs typeface="Alata"/>
                <a:sym typeface="Alata"/>
              </a:rPr>
              <a:t>Universitas Multimedia Nusantara. (2019). Rancang bangun aplikasi pencari rute terdekat pada sistem transportasi massal terpadu menggunakan algoritma Floyd-Warshall (Studi kasus: Transjakarta, KRL Jabodetabek). Undergraduate Thesis Repository. https://kc.umn.ac.id/id/eprint/5071/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1FCFF"/>
        </a:solidFill>
      </p:bgPr>
    </p:bg>
    <p:spTree>
      <p:nvGrpSpPr>
        <p:cNvPr id="1" name=""/>
        <p:cNvGrpSpPr/>
        <p:nvPr/>
      </p:nvGrpSpPr>
      <p:grpSpPr>
        <a:xfrm>
          <a:off x="0" y="0"/>
          <a:ext cx="0" cy="0"/>
          <a:chOff x="0" y="0"/>
          <a:chExt cx="0" cy="0"/>
        </a:xfrm>
      </p:grpSpPr>
      <p:sp>
        <p:nvSpPr>
          <p:cNvPr name="Freeform 2" id="2"/>
          <p:cNvSpPr/>
          <p:nvPr/>
        </p:nvSpPr>
        <p:spPr>
          <a:xfrm flipH="false" flipV="false" rot="0">
            <a:off x="11660319" y="7205129"/>
            <a:ext cx="6627681" cy="3081871"/>
          </a:xfrm>
          <a:custGeom>
            <a:avLst/>
            <a:gdLst/>
            <a:ahLst/>
            <a:cxnLst/>
            <a:rect r="r" b="b" t="t" l="l"/>
            <a:pathLst>
              <a:path h="3081871" w="6627681">
                <a:moveTo>
                  <a:pt x="0" y="0"/>
                </a:moveTo>
                <a:lnTo>
                  <a:pt x="6627681" y="0"/>
                </a:lnTo>
                <a:lnTo>
                  <a:pt x="6627681" y="3081871"/>
                </a:lnTo>
                <a:lnTo>
                  <a:pt x="0" y="30818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0" y="0"/>
            <a:ext cx="6627681" cy="3081871"/>
          </a:xfrm>
          <a:custGeom>
            <a:avLst/>
            <a:gdLst/>
            <a:ahLst/>
            <a:cxnLst/>
            <a:rect r="r" b="b" t="t" l="l"/>
            <a:pathLst>
              <a:path h="3081871" w="6627681">
                <a:moveTo>
                  <a:pt x="6627681" y="3081871"/>
                </a:moveTo>
                <a:lnTo>
                  <a:pt x="0" y="3081871"/>
                </a:lnTo>
                <a:lnTo>
                  <a:pt x="0" y="0"/>
                </a:lnTo>
                <a:lnTo>
                  <a:pt x="6627681" y="0"/>
                </a:lnTo>
                <a:lnTo>
                  <a:pt x="6627681" y="308187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3447579" y="6254878"/>
            <a:ext cx="630553" cy="6637397"/>
          </a:xfrm>
          <a:custGeom>
            <a:avLst/>
            <a:gdLst/>
            <a:ahLst/>
            <a:cxnLst/>
            <a:rect r="r" b="b" t="t" l="l"/>
            <a:pathLst>
              <a:path h="6637397" w="630553">
                <a:moveTo>
                  <a:pt x="0" y="0"/>
                </a:moveTo>
                <a:lnTo>
                  <a:pt x="630552" y="0"/>
                </a:lnTo>
                <a:lnTo>
                  <a:pt x="630552" y="6637397"/>
                </a:lnTo>
                <a:lnTo>
                  <a:pt x="0" y="66373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5400000">
            <a:off x="14163849" y="-2605275"/>
            <a:ext cx="630553" cy="6637397"/>
          </a:xfrm>
          <a:custGeom>
            <a:avLst/>
            <a:gdLst/>
            <a:ahLst/>
            <a:cxnLst/>
            <a:rect r="r" b="b" t="t" l="l"/>
            <a:pathLst>
              <a:path h="6637397" w="630553">
                <a:moveTo>
                  <a:pt x="630553" y="6637397"/>
                </a:moveTo>
                <a:lnTo>
                  <a:pt x="0" y="6637397"/>
                </a:lnTo>
                <a:lnTo>
                  <a:pt x="0" y="0"/>
                </a:lnTo>
                <a:lnTo>
                  <a:pt x="630553" y="0"/>
                </a:lnTo>
                <a:lnTo>
                  <a:pt x="630553" y="66373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2151129" y="2881068"/>
            <a:ext cx="13985742" cy="5708333"/>
            <a:chOff x="0" y="0"/>
            <a:chExt cx="3683488" cy="1503429"/>
          </a:xfrm>
        </p:grpSpPr>
        <p:sp>
          <p:nvSpPr>
            <p:cNvPr name="Freeform 7" id="7"/>
            <p:cNvSpPr/>
            <p:nvPr/>
          </p:nvSpPr>
          <p:spPr>
            <a:xfrm flipH="false" flipV="false" rot="0">
              <a:off x="0" y="0"/>
              <a:ext cx="3683488" cy="1503429"/>
            </a:xfrm>
            <a:custGeom>
              <a:avLst/>
              <a:gdLst/>
              <a:ahLst/>
              <a:cxnLst/>
              <a:rect r="r" b="b" t="t" l="l"/>
              <a:pathLst>
                <a:path h="1503429" w="3683488">
                  <a:moveTo>
                    <a:pt x="28231" y="0"/>
                  </a:moveTo>
                  <a:lnTo>
                    <a:pt x="3655256" y="0"/>
                  </a:lnTo>
                  <a:cubicBezTo>
                    <a:pt x="3670848" y="0"/>
                    <a:pt x="3683488" y="12640"/>
                    <a:pt x="3683488" y="28231"/>
                  </a:cubicBezTo>
                  <a:lnTo>
                    <a:pt x="3683488" y="1475198"/>
                  </a:lnTo>
                  <a:cubicBezTo>
                    <a:pt x="3683488" y="1490790"/>
                    <a:pt x="3670848" y="1503429"/>
                    <a:pt x="3655256" y="1503429"/>
                  </a:cubicBezTo>
                  <a:lnTo>
                    <a:pt x="28231" y="1503429"/>
                  </a:lnTo>
                  <a:cubicBezTo>
                    <a:pt x="12640" y="1503429"/>
                    <a:pt x="0" y="1490790"/>
                    <a:pt x="0" y="1475198"/>
                  </a:cubicBezTo>
                  <a:lnTo>
                    <a:pt x="0" y="28231"/>
                  </a:lnTo>
                  <a:cubicBezTo>
                    <a:pt x="0" y="12640"/>
                    <a:pt x="12640" y="0"/>
                    <a:pt x="28231" y="0"/>
                  </a:cubicBezTo>
                  <a:close/>
                </a:path>
              </a:pathLst>
            </a:custGeom>
            <a:solidFill>
              <a:srgbClr val="FFFFFF"/>
            </a:solidFill>
            <a:ln w="38100" cap="rnd">
              <a:solidFill>
                <a:srgbClr val="1C98ED"/>
              </a:solidFill>
              <a:prstDash val="lgDash"/>
              <a:round/>
            </a:ln>
          </p:spPr>
        </p:sp>
        <p:sp>
          <p:nvSpPr>
            <p:cNvPr name="TextBox 8" id="8"/>
            <p:cNvSpPr txBox="true"/>
            <p:nvPr/>
          </p:nvSpPr>
          <p:spPr>
            <a:xfrm>
              <a:off x="0" y="-38100"/>
              <a:ext cx="3683488" cy="1541529"/>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2965507" y="3370119"/>
            <a:ext cx="5434244" cy="4732379"/>
          </a:xfrm>
          <a:custGeom>
            <a:avLst/>
            <a:gdLst/>
            <a:ahLst/>
            <a:cxnLst/>
            <a:rect r="r" b="b" t="t" l="l"/>
            <a:pathLst>
              <a:path h="4732379" w="5434244">
                <a:moveTo>
                  <a:pt x="0" y="0"/>
                </a:moveTo>
                <a:lnTo>
                  <a:pt x="5434244" y="0"/>
                </a:lnTo>
                <a:lnTo>
                  <a:pt x="5434244" y="4732379"/>
                </a:lnTo>
                <a:lnTo>
                  <a:pt x="0" y="4732379"/>
                </a:lnTo>
                <a:lnTo>
                  <a:pt x="0" y="0"/>
                </a:lnTo>
                <a:close/>
              </a:path>
            </a:pathLst>
          </a:custGeom>
          <a:blipFill>
            <a:blip r:embed="rId6"/>
            <a:stretch>
              <a:fillRect l="0" t="0" r="0" b="0"/>
            </a:stretch>
          </a:blipFill>
        </p:spPr>
      </p:sp>
      <p:sp>
        <p:nvSpPr>
          <p:cNvPr name="TextBox 10" id="10"/>
          <p:cNvSpPr txBox="true"/>
          <p:nvPr/>
        </p:nvSpPr>
        <p:spPr>
          <a:xfrm rot="0">
            <a:off x="3274335" y="1346342"/>
            <a:ext cx="11739331" cy="867975"/>
          </a:xfrm>
          <a:prstGeom prst="rect">
            <a:avLst/>
          </a:prstGeom>
        </p:spPr>
        <p:txBody>
          <a:bodyPr anchor="t" rtlCol="false" tIns="0" lIns="0" bIns="0" rIns="0">
            <a:spAutoFit/>
          </a:bodyPr>
          <a:lstStyle/>
          <a:p>
            <a:pPr algn="ctr">
              <a:lnSpc>
                <a:spcPts val="7228"/>
              </a:lnSpc>
            </a:pPr>
            <a:r>
              <a:rPr lang="en-US" sz="7228">
                <a:solidFill>
                  <a:srgbClr val="000000"/>
                </a:solidFill>
                <a:latin typeface="Sergio Trendy"/>
                <a:ea typeface="Sergio Trendy"/>
                <a:cs typeface="Sergio Trendy"/>
                <a:sym typeface="Sergio Trendy"/>
              </a:rPr>
              <a:t>REFERENSI BERITA</a:t>
            </a:r>
          </a:p>
        </p:txBody>
      </p:sp>
      <p:sp>
        <p:nvSpPr>
          <p:cNvPr name="TextBox 11" id="11"/>
          <p:cNvSpPr txBox="true"/>
          <p:nvPr/>
        </p:nvSpPr>
        <p:spPr>
          <a:xfrm rot="0">
            <a:off x="8708578" y="3246034"/>
            <a:ext cx="7110980" cy="4930775"/>
          </a:xfrm>
          <a:prstGeom prst="rect">
            <a:avLst/>
          </a:prstGeom>
        </p:spPr>
        <p:txBody>
          <a:bodyPr anchor="t" rtlCol="false" tIns="0" lIns="0" bIns="0" rIns="0">
            <a:spAutoFit/>
          </a:bodyPr>
          <a:lstStyle/>
          <a:p>
            <a:pPr algn="just">
              <a:lnSpc>
                <a:spcPts val="2800"/>
              </a:lnSpc>
            </a:pPr>
            <a:r>
              <a:rPr lang="en-US" sz="2000" u="sng">
                <a:solidFill>
                  <a:srgbClr val="000000"/>
                </a:solidFill>
                <a:latin typeface="Alata"/>
                <a:ea typeface="Alata"/>
                <a:cs typeface="Alata"/>
                <a:sym typeface="Alata"/>
                <a:hlinkClick r:id="rId7" tooltip="https://www.tempo.co/arsip/jakarta-kota-termacet-ke-30-di-dunia-dishub-dki-banyak-proyek-pembangunan-97612?utm_source=chatgpt.com"/>
              </a:rPr>
              <a:t>Tempo</a:t>
            </a:r>
          </a:p>
          <a:p>
            <a:pPr algn="just">
              <a:lnSpc>
                <a:spcPts val="2800"/>
              </a:lnSpc>
            </a:pPr>
          </a:p>
          <a:p>
            <a:pPr algn="just">
              <a:lnSpc>
                <a:spcPts val="2800"/>
              </a:lnSpc>
            </a:pPr>
            <a:r>
              <a:rPr lang="en-US" sz="2000">
                <a:solidFill>
                  <a:srgbClr val="000000"/>
                </a:solidFill>
                <a:latin typeface="Alata"/>
                <a:ea typeface="Alata"/>
                <a:cs typeface="Alata"/>
                <a:sym typeface="Alata"/>
              </a:rPr>
              <a:t>Jakarta menjadi salah satu kota termacet di dunia. sebagai bukti nyata dari masalah inefisiensi jaringan transportasi yang darurat/mendesak. Banyak kemacetan terjadi secara langsung membuat bobot waktu tempuh meningkat pada ruas jalan. Permasalahan ini menjustifikasi penuh penggunaan algoritma Dijkstra (algoritma grafik) ini dirancang untuk memodelkan jaringan jalan/transportasi sebagai grafik yang berbobot, denngan tujuan utama untuk mencari jalur lintas terpendek atau rute tercepat yang efektif untuk meminimalisir waktu tempuh, serta menjadikannya solusi yang sesuai untuk mengoptimalkan perjalanan dan mengurangi kemacetan.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1FCFF"/>
        </a:solidFill>
      </p:bgPr>
    </p:bg>
    <p:spTree>
      <p:nvGrpSpPr>
        <p:cNvPr id="1" name=""/>
        <p:cNvGrpSpPr/>
        <p:nvPr/>
      </p:nvGrpSpPr>
      <p:grpSpPr>
        <a:xfrm>
          <a:off x="0" y="0"/>
          <a:ext cx="0" cy="0"/>
          <a:chOff x="0" y="0"/>
          <a:chExt cx="0" cy="0"/>
        </a:xfrm>
      </p:grpSpPr>
      <p:sp>
        <p:nvSpPr>
          <p:cNvPr name="Freeform 2" id="2"/>
          <p:cNvSpPr/>
          <p:nvPr/>
        </p:nvSpPr>
        <p:spPr>
          <a:xfrm flipH="false" flipV="false" rot="0">
            <a:off x="11660319" y="7205129"/>
            <a:ext cx="6627681" cy="3081871"/>
          </a:xfrm>
          <a:custGeom>
            <a:avLst/>
            <a:gdLst/>
            <a:ahLst/>
            <a:cxnLst/>
            <a:rect r="r" b="b" t="t" l="l"/>
            <a:pathLst>
              <a:path h="3081871" w="6627681">
                <a:moveTo>
                  <a:pt x="0" y="0"/>
                </a:moveTo>
                <a:lnTo>
                  <a:pt x="6627681" y="0"/>
                </a:lnTo>
                <a:lnTo>
                  <a:pt x="6627681" y="3081871"/>
                </a:lnTo>
                <a:lnTo>
                  <a:pt x="0" y="30818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0" y="0"/>
            <a:ext cx="6627681" cy="3081871"/>
          </a:xfrm>
          <a:custGeom>
            <a:avLst/>
            <a:gdLst/>
            <a:ahLst/>
            <a:cxnLst/>
            <a:rect r="r" b="b" t="t" l="l"/>
            <a:pathLst>
              <a:path h="3081871" w="6627681">
                <a:moveTo>
                  <a:pt x="6627681" y="3081871"/>
                </a:moveTo>
                <a:lnTo>
                  <a:pt x="0" y="3081871"/>
                </a:lnTo>
                <a:lnTo>
                  <a:pt x="0" y="0"/>
                </a:lnTo>
                <a:lnTo>
                  <a:pt x="6627681" y="0"/>
                </a:lnTo>
                <a:lnTo>
                  <a:pt x="6627681" y="308187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3447579" y="6254878"/>
            <a:ext cx="630553" cy="6637397"/>
          </a:xfrm>
          <a:custGeom>
            <a:avLst/>
            <a:gdLst/>
            <a:ahLst/>
            <a:cxnLst/>
            <a:rect r="r" b="b" t="t" l="l"/>
            <a:pathLst>
              <a:path h="6637397" w="630553">
                <a:moveTo>
                  <a:pt x="0" y="0"/>
                </a:moveTo>
                <a:lnTo>
                  <a:pt x="630552" y="0"/>
                </a:lnTo>
                <a:lnTo>
                  <a:pt x="630552" y="6637397"/>
                </a:lnTo>
                <a:lnTo>
                  <a:pt x="0" y="66373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5400000">
            <a:off x="14163849" y="-2605275"/>
            <a:ext cx="630553" cy="6637397"/>
          </a:xfrm>
          <a:custGeom>
            <a:avLst/>
            <a:gdLst/>
            <a:ahLst/>
            <a:cxnLst/>
            <a:rect r="r" b="b" t="t" l="l"/>
            <a:pathLst>
              <a:path h="6637397" w="630553">
                <a:moveTo>
                  <a:pt x="630553" y="6637397"/>
                </a:moveTo>
                <a:lnTo>
                  <a:pt x="0" y="6637397"/>
                </a:lnTo>
                <a:lnTo>
                  <a:pt x="0" y="0"/>
                </a:lnTo>
                <a:lnTo>
                  <a:pt x="630553" y="0"/>
                </a:lnTo>
                <a:lnTo>
                  <a:pt x="630553" y="66373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097076" y="2389106"/>
            <a:ext cx="4354516" cy="6356958"/>
          </a:xfrm>
          <a:custGeom>
            <a:avLst/>
            <a:gdLst/>
            <a:ahLst/>
            <a:cxnLst/>
            <a:rect r="r" b="b" t="t" l="l"/>
            <a:pathLst>
              <a:path h="6356958" w="4354516">
                <a:moveTo>
                  <a:pt x="0" y="0"/>
                </a:moveTo>
                <a:lnTo>
                  <a:pt x="4354517" y="0"/>
                </a:lnTo>
                <a:lnTo>
                  <a:pt x="4354517" y="6356958"/>
                </a:lnTo>
                <a:lnTo>
                  <a:pt x="0" y="6356958"/>
                </a:lnTo>
                <a:lnTo>
                  <a:pt x="0" y="0"/>
                </a:lnTo>
                <a:close/>
              </a:path>
            </a:pathLst>
          </a:custGeom>
          <a:blipFill>
            <a:blip r:embed="rId6"/>
            <a:stretch>
              <a:fillRect l="0" t="0" r="0" b="0"/>
            </a:stretch>
          </a:blipFill>
        </p:spPr>
      </p:sp>
      <p:sp>
        <p:nvSpPr>
          <p:cNvPr name="Freeform 7" id="7"/>
          <p:cNvSpPr/>
          <p:nvPr/>
        </p:nvSpPr>
        <p:spPr>
          <a:xfrm flipH="false" flipV="false" rot="0">
            <a:off x="5816290" y="2389106"/>
            <a:ext cx="4243270" cy="6356958"/>
          </a:xfrm>
          <a:custGeom>
            <a:avLst/>
            <a:gdLst/>
            <a:ahLst/>
            <a:cxnLst/>
            <a:rect r="r" b="b" t="t" l="l"/>
            <a:pathLst>
              <a:path h="6356958" w="4243270">
                <a:moveTo>
                  <a:pt x="0" y="0"/>
                </a:moveTo>
                <a:lnTo>
                  <a:pt x="4243270" y="0"/>
                </a:lnTo>
                <a:lnTo>
                  <a:pt x="4243270" y="6356958"/>
                </a:lnTo>
                <a:lnTo>
                  <a:pt x="0" y="6356958"/>
                </a:lnTo>
                <a:lnTo>
                  <a:pt x="0" y="0"/>
                </a:lnTo>
                <a:close/>
              </a:path>
            </a:pathLst>
          </a:custGeom>
          <a:blipFill>
            <a:blip r:embed="rId7"/>
            <a:stretch>
              <a:fillRect l="0" t="0" r="0" b="0"/>
            </a:stretch>
          </a:blipFill>
        </p:spPr>
      </p:sp>
      <p:sp>
        <p:nvSpPr>
          <p:cNvPr name="TextBox 8" id="8"/>
          <p:cNvSpPr txBox="true"/>
          <p:nvPr/>
        </p:nvSpPr>
        <p:spPr>
          <a:xfrm rot="0">
            <a:off x="3274335" y="1346342"/>
            <a:ext cx="11739331" cy="867975"/>
          </a:xfrm>
          <a:prstGeom prst="rect">
            <a:avLst/>
          </a:prstGeom>
        </p:spPr>
        <p:txBody>
          <a:bodyPr anchor="t" rtlCol="false" tIns="0" lIns="0" bIns="0" rIns="0">
            <a:spAutoFit/>
          </a:bodyPr>
          <a:lstStyle/>
          <a:p>
            <a:pPr algn="ctr">
              <a:lnSpc>
                <a:spcPts val="7228"/>
              </a:lnSpc>
            </a:pPr>
            <a:r>
              <a:rPr lang="en-US" sz="7228">
                <a:solidFill>
                  <a:srgbClr val="000000"/>
                </a:solidFill>
                <a:latin typeface="Sergio Trendy"/>
                <a:ea typeface="Sergio Trendy"/>
                <a:cs typeface="Sergio Trendy"/>
                <a:sym typeface="Sergio Trendy"/>
              </a:rPr>
              <a:t>LITERATURE RIVIEW</a:t>
            </a:r>
          </a:p>
        </p:txBody>
      </p:sp>
      <p:grpSp>
        <p:nvGrpSpPr>
          <p:cNvPr name="Group 9" id="9"/>
          <p:cNvGrpSpPr/>
          <p:nvPr/>
        </p:nvGrpSpPr>
        <p:grpSpPr>
          <a:xfrm rot="0">
            <a:off x="10421510" y="2692467"/>
            <a:ext cx="7016030" cy="5454397"/>
            <a:chOff x="0" y="0"/>
            <a:chExt cx="1847843" cy="1436549"/>
          </a:xfrm>
        </p:grpSpPr>
        <p:sp>
          <p:nvSpPr>
            <p:cNvPr name="Freeform 10" id="10"/>
            <p:cNvSpPr/>
            <p:nvPr/>
          </p:nvSpPr>
          <p:spPr>
            <a:xfrm flipH="false" flipV="false" rot="0">
              <a:off x="0" y="0"/>
              <a:ext cx="1847843" cy="1436549"/>
            </a:xfrm>
            <a:custGeom>
              <a:avLst/>
              <a:gdLst/>
              <a:ahLst/>
              <a:cxnLst/>
              <a:rect r="r" b="b" t="t" l="l"/>
              <a:pathLst>
                <a:path h="1436549" w="1847843">
                  <a:moveTo>
                    <a:pt x="56277" y="0"/>
                  </a:moveTo>
                  <a:lnTo>
                    <a:pt x="1791567" y="0"/>
                  </a:lnTo>
                  <a:cubicBezTo>
                    <a:pt x="1806492" y="0"/>
                    <a:pt x="1820806" y="5929"/>
                    <a:pt x="1831360" y="16483"/>
                  </a:cubicBezTo>
                  <a:cubicBezTo>
                    <a:pt x="1841914" y="27037"/>
                    <a:pt x="1847843" y="41351"/>
                    <a:pt x="1847843" y="56277"/>
                  </a:cubicBezTo>
                  <a:lnTo>
                    <a:pt x="1847843" y="1380272"/>
                  </a:lnTo>
                  <a:cubicBezTo>
                    <a:pt x="1847843" y="1395198"/>
                    <a:pt x="1841914" y="1409512"/>
                    <a:pt x="1831360" y="1420066"/>
                  </a:cubicBezTo>
                  <a:cubicBezTo>
                    <a:pt x="1820806" y="1430620"/>
                    <a:pt x="1806492" y="1436549"/>
                    <a:pt x="1791567" y="1436549"/>
                  </a:cubicBezTo>
                  <a:lnTo>
                    <a:pt x="56277" y="1436549"/>
                  </a:lnTo>
                  <a:cubicBezTo>
                    <a:pt x="41351" y="1436549"/>
                    <a:pt x="27037" y="1430620"/>
                    <a:pt x="16483" y="1420066"/>
                  </a:cubicBezTo>
                  <a:cubicBezTo>
                    <a:pt x="5929" y="1409512"/>
                    <a:pt x="0" y="1395198"/>
                    <a:pt x="0" y="1380272"/>
                  </a:cubicBezTo>
                  <a:lnTo>
                    <a:pt x="0" y="56277"/>
                  </a:lnTo>
                  <a:cubicBezTo>
                    <a:pt x="0" y="41351"/>
                    <a:pt x="5929" y="27037"/>
                    <a:pt x="16483" y="16483"/>
                  </a:cubicBezTo>
                  <a:cubicBezTo>
                    <a:pt x="27037" y="5929"/>
                    <a:pt x="41351" y="0"/>
                    <a:pt x="56277" y="0"/>
                  </a:cubicBezTo>
                  <a:close/>
                </a:path>
              </a:pathLst>
            </a:custGeom>
            <a:solidFill>
              <a:srgbClr val="FFFFFF"/>
            </a:solidFill>
            <a:ln w="38100" cap="rnd">
              <a:solidFill>
                <a:srgbClr val="1C98ED"/>
              </a:solidFill>
              <a:prstDash val="lgDash"/>
              <a:round/>
            </a:ln>
          </p:spPr>
        </p:sp>
        <p:sp>
          <p:nvSpPr>
            <p:cNvPr name="TextBox 11" id="11"/>
            <p:cNvSpPr txBox="true"/>
            <p:nvPr/>
          </p:nvSpPr>
          <p:spPr>
            <a:xfrm>
              <a:off x="0" y="-38100"/>
              <a:ext cx="1847843" cy="1474649"/>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11041296" y="2896078"/>
            <a:ext cx="5776458" cy="4924910"/>
          </a:xfrm>
          <a:prstGeom prst="rect">
            <a:avLst/>
          </a:prstGeom>
        </p:spPr>
        <p:txBody>
          <a:bodyPr anchor="t" rtlCol="false" tIns="0" lIns="0" bIns="0" rIns="0">
            <a:spAutoFit/>
          </a:bodyPr>
          <a:lstStyle/>
          <a:p>
            <a:pPr algn="ctr">
              <a:lnSpc>
                <a:spcPts val="2878"/>
              </a:lnSpc>
            </a:pPr>
            <a:r>
              <a:rPr lang="en-US" sz="2055">
                <a:solidFill>
                  <a:srgbClr val="000000"/>
                </a:solidFill>
                <a:latin typeface="Alata"/>
                <a:ea typeface="Alata"/>
                <a:cs typeface="Alata"/>
                <a:sym typeface="Alata"/>
              </a:rPr>
              <a:t> Implementasi Algoritma Graph pada Sistem Akademik, laporan/artikelnya (2024)</a:t>
            </a:r>
          </a:p>
          <a:p>
            <a:pPr algn="ctr">
              <a:lnSpc>
                <a:spcPts val="2878"/>
              </a:lnSpc>
            </a:pPr>
          </a:p>
          <a:p>
            <a:pPr algn="l">
              <a:lnSpc>
                <a:spcPts val="2598"/>
              </a:lnSpc>
            </a:pPr>
            <a:r>
              <a:rPr lang="en-US" sz="1855">
                <a:solidFill>
                  <a:srgbClr val="000000"/>
                </a:solidFill>
                <a:latin typeface="Alata"/>
                <a:ea typeface="Alata"/>
                <a:cs typeface="Alata"/>
                <a:sym typeface="Alata"/>
              </a:rPr>
              <a:t>Menunjukkan bahwa algoritma graph, khususnya penentuan lintasan optimal, efektif dalam mengoptimalkan rute transportasi pada jaringan jalan perkotaan di  mana hasil analisis menunjukkan algoritma graph mampu meminimalkan jarak tempuh dan waktu perjalanan dibandingkan penentuan rute manual. Temuan ini mendukung penerapan algoritma graph dalam sistem informasi transportasi untuk membantu penentuan rute tercepat dan paling efisien pada jaringan jalan yang kompleks.</a:t>
            </a:r>
          </a:p>
          <a:p>
            <a:pPr algn="l">
              <a:lnSpc>
                <a:spcPts val="2318"/>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1FCFF"/>
        </a:solidFill>
      </p:bgPr>
    </p:bg>
    <p:spTree>
      <p:nvGrpSpPr>
        <p:cNvPr id="1" name=""/>
        <p:cNvGrpSpPr/>
        <p:nvPr/>
      </p:nvGrpSpPr>
      <p:grpSpPr>
        <a:xfrm>
          <a:off x="0" y="0"/>
          <a:ext cx="0" cy="0"/>
          <a:chOff x="0" y="0"/>
          <a:chExt cx="0" cy="0"/>
        </a:xfrm>
      </p:grpSpPr>
      <p:sp>
        <p:nvSpPr>
          <p:cNvPr name="Freeform 2" id="2"/>
          <p:cNvSpPr/>
          <p:nvPr/>
        </p:nvSpPr>
        <p:spPr>
          <a:xfrm flipH="false" flipV="false" rot="0">
            <a:off x="11660319" y="7205129"/>
            <a:ext cx="6627681" cy="3081871"/>
          </a:xfrm>
          <a:custGeom>
            <a:avLst/>
            <a:gdLst/>
            <a:ahLst/>
            <a:cxnLst/>
            <a:rect r="r" b="b" t="t" l="l"/>
            <a:pathLst>
              <a:path h="3081871" w="6627681">
                <a:moveTo>
                  <a:pt x="0" y="0"/>
                </a:moveTo>
                <a:lnTo>
                  <a:pt x="6627681" y="0"/>
                </a:lnTo>
                <a:lnTo>
                  <a:pt x="6627681" y="3081871"/>
                </a:lnTo>
                <a:lnTo>
                  <a:pt x="0" y="30818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0" y="0"/>
            <a:ext cx="6627681" cy="3081871"/>
          </a:xfrm>
          <a:custGeom>
            <a:avLst/>
            <a:gdLst/>
            <a:ahLst/>
            <a:cxnLst/>
            <a:rect r="r" b="b" t="t" l="l"/>
            <a:pathLst>
              <a:path h="3081871" w="6627681">
                <a:moveTo>
                  <a:pt x="6627681" y="3081871"/>
                </a:moveTo>
                <a:lnTo>
                  <a:pt x="0" y="3081871"/>
                </a:lnTo>
                <a:lnTo>
                  <a:pt x="0" y="0"/>
                </a:lnTo>
                <a:lnTo>
                  <a:pt x="6627681" y="0"/>
                </a:lnTo>
                <a:lnTo>
                  <a:pt x="6627681" y="308187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3447579" y="6254878"/>
            <a:ext cx="630553" cy="6637397"/>
          </a:xfrm>
          <a:custGeom>
            <a:avLst/>
            <a:gdLst/>
            <a:ahLst/>
            <a:cxnLst/>
            <a:rect r="r" b="b" t="t" l="l"/>
            <a:pathLst>
              <a:path h="6637397" w="630553">
                <a:moveTo>
                  <a:pt x="0" y="0"/>
                </a:moveTo>
                <a:lnTo>
                  <a:pt x="630552" y="0"/>
                </a:lnTo>
                <a:lnTo>
                  <a:pt x="630552" y="6637397"/>
                </a:lnTo>
                <a:lnTo>
                  <a:pt x="0" y="66373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5400000">
            <a:off x="14163849" y="-2605275"/>
            <a:ext cx="630553" cy="6637397"/>
          </a:xfrm>
          <a:custGeom>
            <a:avLst/>
            <a:gdLst/>
            <a:ahLst/>
            <a:cxnLst/>
            <a:rect r="r" b="b" t="t" l="l"/>
            <a:pathLst>
              <a:path h="6637397" w="630553">
                <a:moveTo>
                  <a:pt x="630553" y="6637397"/>
                </a:moveTo>
                <a:lnTo>
                  <a:pt x="0" y="6637397"/>
                </a:lnTo>
                <a:lnTo>
                  <a:pt x="0" y="0"/>
                </a:lnTo>
                <a:lnTo>
                  <a:pt x="630553" y="0"/>
                </a:lnTo>
                <a:lnTo>
                  <a:pt x="630553" y="66373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297643" y="2214318"/>
            <a:ext cx="15692714" cy="6692304"/>
            <a:chOff x="0" y="0"/>
            <a:chExt cx="4133061" cy="1762582"/>
          </a:xfrm>
        </p:grpSpPr>
        <p:sp>
          <p:nvSpPr>
            <p:cNvPr name="Freeform 7" id="7"/>
            <p:cNvSpPr/>
            <p:nvPr/>
          </p:nvSpPr>
          <p:spPr>
            <a:xfrm flipH="false" flipV="false" rot="0">
              <a:off x="0" y="0"/>
              <a:ext cx="4133061" cy="1762582"/>
            </a:xfrm>
            <a:custGeom>
              <a:avLst/>
              <a:gdLst/>
              <a:ahLst/>
              <a:cxnLst/>
              <a:rect r="r" b="b" t="t" l="l"/>
              <a:pathLst>
                <a:path h="1762582" w="4133061">
                  <a:moveTo>
                    <a:pt x="25161" y="0"/>
                  </a:moveTo>
                  <a:lnTo>
                    <a:pt x="4107900" y="0"/>
                  </a:lnTo>
                  <a:cubicBezTo>
                    <a:pt x="4121796" y="0"/>
                    <a:pt x="4133061" y="11265"/>
                    <a:pt x="4133061" y="25161"/>
                  </a:cubicBezTo>
                  <a:lnTo>
                    <a:pt x="4133061" y="1737421"/>
                  </a:lnTo>
                  <a:cubicBezTo>
                    <a:pt x="4133061" y="1751317"/>
                    <a:pt x="4121796" y="1762582"/>
                    <a:pt x="4107900" y="1762582"/>
                  </a:cubicBezTo>
                  <a:lnTo>
                    <a:pt x="25161" y="1762582"/>
                  </a:lnTo>
                  <a:cubicBezTo>
                    <a:pt x="18488" y="1762582"/>
                    <a:pt x="12088" y="1759931"/>
                    <a:pt x="7369" y="1755213"/>
                  </a:cubicBezTo>
                  <a:cubicBezTo>
                    <a:pt x="2651" y="1750494"/>
                    <a:pt x="0" y="1744095"/>
                    <a:pt x="0" y="1737421"/>
                  </a:cubicBezTo>
                  <a:lnTo>
                    <a:pt x="0" y="25161"/>
                  </a:lnTo>
                  <a:cubicBezTo>
                    <a:pt x="0" y="11265"/>
                    <a:pt x="11265" y="0"/>
                    <a:pt x="25161" y="0"/>
                  </a:cubicBezTo>
                  <a:close/>
                </a:path>
              </a:pathLst>
            </a:custGeom>
            <a:solidFill>
              <a:srgbClr val="FFFFFF"/>
            </a:solidFill>
            <a:ln w="38100" cap="rnd">
              <a:solidFill>
                <a:srgbClr val="1C98ED"/>
              </a:solidFill>
              <a:prstDash val="lgDash"/>
              <a:round/>
            </a:ln>
          </p:spPr>
        </p:sp>
        <p:sp>
          <p:nvSpPr>
            <p:cNvPr name="TextBox 8" id="8"/>
            <p:cNvSpPr txBox="true"/>
            <p:nvPr/>
          </p:nvSpPr>
          <p:spPr>
            <a:xfrm>
              <a:off x="0" y="-38100"/>
              <a:ext cx="4133061" cy="1800682"/>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1451776" y="2517297"/>
            <a:ext cx="5015800" cy="6090932"/>
          </a:xfrm>
          <a:custGeom>
            <a:avLst/>
            <a:gdLst/>
            <a:ahLst/>
            <a:cxnLst/>
            <a:rect r="r" b="b" t="t" l="l"/>
            <a:pathLst>
              <a:path h="6090932" w="5015800">
                <a:moveTo>
                  <a:pt x="0" y="0"/>
                </a:moveTo>
                <a:lnTo>
                  <a:pt x="5015800" y="0"/>
                </a:lnTo>
                <a:lnTo>
                  <a:pt x="5015800" y="6090932"/>
                </a:lnTo>
                <a:lnTo>
                  <a:pt x="0" y="6090932"/>
                </a:lnTo>
                <a:lnTo>
                  <a:pt x="0" y="0"/>
                </a:lnTo>
                <a:close/>
              </a:path>
            </a:pathLst>
          </a:custGeom>
          <a:blipFill>
            <a:blip r:embed="rId6"/>
            <a:stretch>
              <a:fillRect l="0" t="-75" r="-1778" b="0"/>
            </a:stretch>
          </a:blipFill>
        </p:spPr>
      </p:sp>
      <p:sp>
        <p:nvSpPr>
          <p:cNvPr name="Freeform 10" id="10"/>
          <p:cNvSpPr/>
          <p:nvPr/>
        </p:nvSpPr>
        <p:spPr>
          <a:xfrm flipH="false" flipV="false" rot="0">
            <a:off x="6467576" y="2517297"/>
            <a:ext cx="6453968" cy="6090932"/>
          </a:xfrm>
          <a:custGeom>
            <a:avLst/>
            <a:gdLst/>
            <a:ahLst/>
            <a:cxnLst/>
            <a:rect r="r" b="b" t="t" l="l"/>
            <a:pathLst>
              <a:path h="6090932" w="6453968">
                <a:moveTo>
                  <a:pt x="0" y="0"/>
                </a:moveTo>
                <a:lnTo>
                  <a:pt x="6453968" y="0"/>
                </a:lnTo>
                <a:lnTo>
                  <a:pt x="6453968" y="6090932"/>
                </a:lnTo>
                <a:lnTo>
                  <a:pt x="0" y="6090932"/>
                </a:lnTo>
                <a:lnTo>
                  <a:pt x="0" y="0"/>
                </a:lnTo>
                <a:close/>
              </a:path>
            </a:pathLst>
          </a:custGeom>
          <a:blipFill>
            <a:blip r:embed="rId7"/>
            <a:stretch>
              <a:fillRect l="0" t="0" r="0" b="0"/>
            </a:stretch>
          </a:blipFill>
        </p:spPr>
      </p:sp>
      <p:sp>
        <p:nvSpPr>
          <p:cNvPr name="TextBox 11" id="11"/>
          <p:cNvSpPr txBox="true"/>
          <p:nvPr/>
        </p:nvSpPr>
        <p:spPr>
          <a:xfrm rot="0">
            <a:off x="3274335" y="1346342"/>
            <a:ext cx="11739331" cy="867975"/>
          </a:xfrm>
          <a:prstGeom prst="rect">
            <a:avLst/>
          </a:prstGeom>
        </p:spPr>
        <p:txBody>
          <a:bodyPr anchor="t" rtlCol="false" tIns="0" lIns="0" bIns="0" rIns="0">
            <a:spAutoFit/>
          </a:bodyPr>
          <a:lstStyle/>
          <a:p>
            <a:pPr algn="ctr">
              <a:lnSpc>
                <a:spcPts val="7228"/>
              </a:lnSpc>
            </a:pPr>
            <a:r>
              <a:rPr lang="en-US" sz="7228">
                <a:solidFill>
                  <a:srgbClr val="000000"/>
                </a:solidFill>
                <a:latin typeface="Sergio Trendy"/>
                <a:ea typeface="Sergio Trendy"/>
                <a:cs typeface="Sergio Trendy"/>
                <a:sym typeface="Sergio Trendy"/>
              </a:rPr>
              <a:t>RELATED WORK</a:t>
            </a:r>
          </a:p>
        </p:txBody>
      </p:sp>
      <p:sp>
        <p:nvSpPr>
          <p:cNvPr name="TextBox 12" id="12"/>
          <p:cNvSpPr txBox="true"/>
          <p:nvPr/>
        </p:nvSpPr>
        <p:spPr>
          <a:xfrm rot="0">
            <a:off x="13269175" y="2741141"/>
            <a:ext cx="3409970" cy="5605145"/>
          </a:xfrm>
          <a:prstGeom prst="rect">
            <a:avLst/>
          </a:prstGeom>
        </p:spPr>
        <p:txBody>
          <a:bodyPr anchor="t" rtlCol="false" tIns="0" lIns="0" bIns="0" rIns="0">
            <a:spAutoFit/>
          </a:bodyPr>
          <a:lstStyle/>
          <a:p>
            <a:pPr algn="just">
              <a:lnSpc>
                <a:spcPts val="2380"/>
              </a:lnSpc>
            </a:pPr>
            <a:r>
              <a:rPr lang="en-US" sz="1700" u="sng">
                <a:solidFill>
                  <a:srgbClr val="000000"/>
                </a:solidFill>
                <a:latin typeface="Alata"/>
                <a:ea typeface="Alata"/>
                <a:cs typeface="Alata"/>
                <a:sym typeface="Alata"/>
                <a:hlinkClick r:id="rId8" tooltip="https://www.semanticscholar.org/paper/Analisis-Penerapan-Algoritma-Dijkstra-dalam-Rute:-Amin-Hendrik/82af715c9ed105e8943694fd5fa5e0962743e35b"/>
              </a:rPr>
              <a:t>Analisis Penerapan Algoritma Dijkstra</a:t>
            </a:r>
          </a:p>
          <a:p>
            <a:pPr algn="just">
              <a:lnSpc>
                <a:spcPts val="2380"/>
              </a:lnSpc>
            </a:pPr>
          </a:p>
          <a:p>
            <a:pPr algn="just">
              <a:lnSpc>
                <a:spcPts val="2380"/>
              </a:lnSpc>
            </a:pPr>
            <a:r>
              <a:rPr lang="en-US" sz="1700">
                <a:solidFill>
                  <a:srgbClr val="000000"/>
                </a:solidFill>
                <a:latin typeface="Alata"/>
                <a:ea typeface="Alata"/>
                <a:cs typeface="Alata"/>
                <a:sym typeface="Alata"/>
              </a:rPr>
              <a:t>Penelitian yang dikaji memvalidasi bahwa Dijkstra mampu mengidentifikasi rite alternatif ketika terjadinya kemacetan pada jalur utama. Dijkstra dijadikan sebagai alat yanga handal untuk mengatasi masalah inefisiensi jaringan transportasi dunia nyata. Dijkstra juga terbukti unggul dalam efisiensi komputasi dengan waktu pemrosesan yang sangat cepat, yang membuatnya menjadi pilihan tepat untuk aplikasi yang membutuhkan rekomendasi rute real-time.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1FCFF"/>
        </a:solidFill>
      </p:bgPr>
    </p:bg>
    <p:spTree>
      <p:nvGrpSpPr>
        <p:cNvPr id="1" name=""/>
        <p:cNvGrpSpPr/>
        <p:nvPr/>
      </p:nvGrpSpPr>
      <p:grpSpPr>
        <a:xfrm>
          <a:off x="0" y="0"/>
          <a:ext cx="0" cy="0"/>
          <a:chOff x="0" y="0"/>
          <a:chExt cx="0" cy="0"/>
        </a:xfrm>
      </p:grpSpPr>
      <p:sp>
        <p:nvSpPr>
          <p:cNvPr name="Freeform 2" id="2"/>
          <p:cNvSpPr/>
          <p:nvPr/>
        </p:nvSpPr>
        <p:spPr>
          <a:xfrm flipH="false" flipV="false" rot="0">
            <a:off x="11660319" y="7205129"/>
            <a:ext cx="6627681" cy="3081871"/>
          </a:xfrm>
          <a:custGeom>
            <a:avLst/>
            <a:gdLst/>
            <a:ahLst/>
            <a:cxnLst/>
            <a:rect r="r" b="b" t="t" l="l"/>
            <a:pathLst>
              <a:path h="3081871" w="6627681">
                <a:moveTo>
                  <a:pt x="0" y="0"/>
                </a:moveTo>
                <a:lnTo>
                  <a:pt x="6627681" y="0"/>
                </a:lnTo>
                <a:lnTo>
                  <a:pt x="6627681" y="3081871"/>
                </a:lnTo>
                <a:lnTo>
                  <a:pt x="0" y="30818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0" y="0"/>
            <a:ext cx="6627681" cy="3081871"/>
          </a:xfrm>
          <a:custGeom>
            <a:avLst/>
            <a:gdLst/>
            <a:ahLst/>
            <a:cxnLst/>
            <a:rect r="r" b="b" t="t" l="l"/>
            <a:pathLst>
              <a:path h="3081871" w="6627681">
                <a:moveTo>
                  <a:pt x="6627681" y="3081871"/>
                </a:moveTo>
                <a:lnTo>
                  <a:pt x="0" y="3081871"/>
                </a:lnTo>
                <a:lnTo>
                  <a:pt x="0" y="0"/>
                </a:lnTo>
                <a:lnTo>
                  <a:pt x="6627681" y="0"/>
                </a:lnTo>
                <a:lnTo>
                  <a:pt x="6627681" y="308187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528361" y="1238754"/>
            <a:ext cx="15231278" cy="7809492"/>
          </a:xfrm>
          <a:custGeom>
            <a:avLst/>
            <a:gdLst/>
            <a:ahLst/>
            <a:cxnLst/>
            <a:rect r="r" b="b" t="t" l="l"/>
            <a:pathLst>
              <a:path h="7809492" w="15231278">
                <a:moveTo>
                  <a:pt x="15231278" y="0"/>
                </a:moveTo>
                <a:lnTo>
                  <a:pt x="0" y="0"/>
                </a:lnTo>
                <a:lnTo>
                  <a:pt x="0" y="7809492"/>
                </a:lnTo>
                <a:lnTo>
                  <a:pt x="15231278" y="7809492"/>
                </a:lnTo>
                <a:lnTo>
                  <a:pt x="1523127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5400000">
            <a:off x="3447579" y="6254878"/>
            <a:ext cx="630553" cy="6637397"/>
          </a:xfrm>
          <a:custGeom>
            <a:avLst/>
            <a:gdLst/>
            <a:ahLst/>
            <a:cxnLst/>
            <a:rect r="r" b="b" t="t" l="l"/>
            <a:pathLst>
              <a:path h="6637397" w="630553">
                <a:moveTo>
                  <a:pt x="0" y="0"/>
                </a:moveTo>
                <a:lnTo>
                  <a:pt x="630552" y="0"/>
                </a:lnTo>
                <a:lnTo>
                  <a:pt x="630552" y="6637397"/>
                </a:lnTo>
                <a:lnTo>
                  <a:pt x="0" y="66373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true" flipV="true" rot="5400000">
            <a:off x="14163849" y="-2605275"/>
            <a:ext cx="630553" cy="6637397"/>
          </a:xfrm>
          <a:custGeom>
            <a:avLst/>
            <a:gdLst/>
            <a:ahLst/>
            <a:cxnLst/>
            <a:rect r="r" b="b" t="t" l="l"/>
            <a:pathLst>
              <a:path h="6637397" w="630553">
                <a:moveTo>
                  <a:pt x="630553" y="6637397"/>
                </a:moveTo>
                <a:lnTo>
                  <a:pt x="0" y="6637397"/>
                </a:lnTo>
                <a:lnTo>
                  <a:pt x="0" y="0"/>
                </a:lnTo>
                <a:lnTo>
                  <a:pt x="630553" y="0"/>
                </a:lnTo>
                <a:lnTo>
                  <a:pt x="630553" y="6637397"/>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3143491" y="4704286"/>
            <a:ext cx="12001017" cy="1211803"/>
          </a:xfrm>
          <a:prstGeom prst="rect">
            <a:avLst/>
          </a:prstGeom>
        </p:spPr>
        <p:txBody>
          <a:bodyPr anchor="t" rtlCol="false" tIns="0" lIns="0" bIns="0" rIns="0">
            <a:spAutoFit/>
          </a:bodyPr>
          <a:lstStyle/>
          <a:p>
            <a:pPr algn="ctr">
              <a:lnSpc>
                <a:spcPts val="10185"/>
              </a:lnSpc>
            </a:pPr>
            <a:r>
              <a:rPr lang="en-US" sz="10185">
                <a:solidFill>
                  <a:srgbClr val="000000"/>
                </a:solidFill>
                <a:latin typeface="Sergio Trendy"/>
                <a:ea typeface="Sergio Trendy"/>
                <a:cs typeface="Sergio Trendy"/>
                <a:sym typeface="Sergio Trendy"/>
              </a:rPr>
              <a:t>TERIMA KASIH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DAG0Jkg9EKg</dc:identifier>
  <dcterms:modified xsi:type="dcterms:W3CDTF">2011-08-01T06:04:30Z</dcterms:modified>
  <cp:revision>1</cp:revision>
  <dc:title>GRAPH</dc:title>
</cp:coreProperties>
</file>